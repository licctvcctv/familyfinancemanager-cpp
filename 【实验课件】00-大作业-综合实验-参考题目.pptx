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880" r:id="rId2"/>
    <p:sldId id="2162" r:id="rId3"/>
    <p:sldId id="2163" r:id="rId4"/>
    <p:sldId id="2183" r:id="rId5"/>
    <p:sldId id="2184" r:id="rId6"/>
    <p:sldId id="2194" r:id="rId7"/>
    <p:sldId id="2186" r:id="rId8"/>
    <p:sldId id="2187" r:id="rId9"/>
    <p:sldId id="2188" r:id="rId10"/>
    <p:sldId id="2189" r:id="rId11"/>
    <p:sldId id="2190" r:id="rId12"/>
    <p:sldId id="2191" r:id="rId13"/>
    <p:sldId id="2192" r:id="rId14"/>
    <p:sldId id="2193" r:id="rId15"/>
    <p:sldId id="2164" r:id="rId16"/>
    <p:sldId id="2165" r:id="rId17"/>
    <p:sldId id="2166" r:id="rId18"/>
    <p:sldId id="2167" r:id="rId19"/>
    <p:sldId id="2168" r:id="rId20"/>
    <p:sldId id="2170" r:id="rId21"/>
    <p:sldId id="2171" r:id="rId22"/>
    <p:sldId id="2172" r:id="rId23"/>
    <p:sldId id="2173" r:id="rId24"/>
    <p:sldId id="2174" r:id="rId25"/>
    <p:sldId id="2175" r:id="rId26"/>
    <p:sldId id="2176" r:id="rId27"/>
    <p:sldId id="2177" r:id="rId28"/>
    <p:sldId id="2178" r:id="rId29"/>
    <p:sldId id="2179" r:id="rId30"/>
    <p:sldId id="2180" r:id="rId31"/>
    <p:sldId id="2181" r:id="rId32"/>
    <p:sldId id="2182" r:id="rId33"/>
    <p:sldId id="2169" r:id="rId34"/>
  </p:sldIdLst>
  <p:sldSz cx="9144000" cy="6858000" type="screen4x3"/>
  <p:notesSz cx="6648450" cy="9782175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4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0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2F2FC5"/>
    <a:srgbClr val="CC0066"/>
    <a:srgbClr val="4B0064"/>
    <a:srgbClr val="FFFF99"/>
    <a:srgbClr val="E682E1"/>
    <a:srgbClr val="3030C7"/>
    <a:srgbClr val="740000"/>
    <a:srgbClr val="3333FF"/>
    <a:srgbClr val="CB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47" autoAdjust="0"/>
    <p:restoredTop sz="92973" autoAdjust="0"/>
  </p:normalViewPr>
  <p:slideViewPr>
    <p:cSldViewPr>
      <p:cViewPr varScale="1">
        <p:scale>
          <a:sx n="80" d="100"/>
          <a:sy n="80" d="100"/>
        </p:scale>
        <p:origin x="308" y="40"/>
      </p:cViewPr>
      <p:guideLst>
        <p:guide orient="horz" pos="1824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922" y="60"/>
      </p:cViewPr>
      <p:guideLst>
        <p:guide orient="horz" pos="3080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28813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000" i="1">
                <a:latin typeface="Book Antiqua" panose="0204060205030503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网站建设与网络安全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-1588"/>
            <a:ext cx="28813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>
                <a:latin typeface="Book Antiqua" panose="0204060205030503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1638"/>
            <a:ext cx="28813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000" i="1">
                <a:latin typeface="Book Antiqua" panose="0204060205030503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武汉大学计算机学院 梁意文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1638"/>
            <a:ext cx="28813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>
                <a:latin typeface="Book Antiqua" panose="02040602050305030304" pitchFamily="18" charset="0"/>
                <a:ea typeface="宋体" panose="02010600030101010101" pitchFamily="2" charset="-122"/>
              </a:defRPr>
            </a:lvl1pPr>
          </a:lstStyle>
          <a:p>
            <a:fld id="{06F2D5D5-3B16-43CA-8995-8BE81CB6B1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5255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28813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defTabSz="762000" eaLnBrk="0" hangingPunct="0">
              <a:defRPr sz="1000" i="1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-1588"/>
            <a:ext cx="28813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1638"/>
            <a:ext cx="28813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defTabSz="762000" eaLnBrk="0" hangingPunct="0">
              <a:defRPr sz="1000" i="1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1638"/>
            <a:ext cx="28813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ea typeface="宋体" panose="02010600030101010101" pitchFamily="2" charset="-122"/>
              </a:defRPr>
            </a:lvl1pPr>
          </a:lstStyle>
          <a:p>
            <a:fld id="{2294745A-D51A-4D6A-8042-2BC64911E49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5025"/>
            <a:ext cx="4876800" cy="440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notes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0" y="739775"/>
            <a:ext cx="4872038" cy="36544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362836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3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5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553709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5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76917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6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10273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8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275775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4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75794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66340" y="6525344"/>
            <a:ext cx="6241965" cy="260648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auto">
          <a:xfrm>
            <a:off x="827586" y="6381332"/>
            <a:ext cx="6624736" cy="466725"/>
          </a:xfrm>
          <a:prstGeom prst="rect">
            <a:avLst/>
          </a:prstGeom>
          <a:solidFill>
            <a:srgbClr val="3030C7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75800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9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6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823515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9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6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428027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5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386124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  <p:sp>
        <p:nvSpPr>
          <p:cNvPr id="5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057311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Text Box 61"/>
          <p:cNvSpPr txBox="1">
            <a:spLocks noChangeArrowheads="1"/>
          </p:cNvSpPr>
          <p:nvPr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pPr algn="l">
                <a:spcBef>
                  <a:spcPct val="50000"/>
                </a:spcBef>
              </a:pPr>
              <a:t>‹#›</a:t>
            </a:fld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971600" y="6381328"/>
            <a:ext cx="6408712" cy="476672"/>
          </a:xfrm>
          <a:prstGeom prst="rect">
            <a:avLst/>
          </a:prstGeom>
          <a:solidFill>
            <a:srgbClr val="2F2FC5"/>
          </a:solidFill>
          <a:ln>
            <a:noFill/>
          </a:ln>
          <a:effectLst/>
        </p:spPr>
        <p:txBody>
          <a:bodyPr lIns="36000" tIns="0" rIns="36000" bIns="0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dist"/>
            <a:r>
              <a:rPr lang="zh-CN" altLang="en-US" sz="32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武汉大学</a:t>
            </a:r>
            <a:r>
              <a:rPr lang="zh-CN" altLang="en-US" sz="2400" b="1" cap="none" spc="0" dirty="0">
                <a:ln/>
                <a:solidFill>
                  <a:schemeClr val="accent3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计算机学院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600" i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Monotype Sorts" pitchFamily="2" charset="2"/>
        <a:buChar char="u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2000"/>
        <a:buFont typeface="Monotype Sorts" pitchFamily="2" charset="2"/>
        <a:buChar char="u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2000"/>
        <a:buFont typeface="Monotype Sorts" pitchFamily="2" charset="2"/>
        <a:buChar char="u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2000"/>
        <a:buFont typeface="Monotype Sorts" pitchFamily="2" charset="2"/>
        <a:buChar char="u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00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185042"/>
              </p:ext>
            </p:extLst>
          </p:nvPr>
        </p:nvGraphicFramePr>
        <p:xfrm>
          <a:off x="83457" y="5457371"/>
          <a:ext cx="15240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剪辑" r:id="rId3" imgW="685800" imgH="587045" progId="">
                  <p:embed/>
                </p:oleObj>
              </mc:Choice>
              <mc:Fallback>
                <p:oleObj name="剪辑" r:id="rId3" imgW="685800" imgH="587045" progId="">
                  <p:embed/>
                  <p:pic>
                    <p:nvPicPr>
                      <p:cNvPr id="0" name="Picture 1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57" y="5457371"/>
                        <a:ext cx="152400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0068" name="Rectangle 4"/>
          <p:cNvSpPr>
            <a:spLocks noChangeArrowheads="1"/>
          </p:cNvSpPr>
          <p:nvPr/>
        </p:nvSpPr>
        <p:spPr bwMode="auto">
          <a:xfrm>
            <a:off x="533400" y="1219200"/>
            <a:ext cx="7848600" cy="76200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sy="50000" rotWithShape="0">
                    <a:srgbClr val="875B0D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00069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70000"/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388939"/>
            <a:ext cx="1219200" cy="754063"/>
          </a:xfrm>
          <a:prstGeom prst="rect">
            <a:avLst/>
          </a:prstGeom>
          <a:noFill/>
          <a:effectLst>
            <a:prstShdw prst="shdw17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0070" name="Text Box 6"/>
          <p:cNvSpPr txBox="1">
            <a:spLocks noChangeArrowheads="1"/>
          </p:cNvSpPr>
          <p:nvPr/>
        </p:nvSpPr>
        <p:spPr bwMode="auto">
          <a:xfrm>
            <a:off x="971600" y="2344819"/>
            <a:ext cx="7848872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sy="50000" rotWithShape="0">
                    <a:srgbClr val="875B0D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anose="02010609060101010101" pitchFamily="49" charset="-122"/>
              </a:rPr>
              <a:t>实验</a:t>
            </a:r>
            <a:r>
              <a:rPr lang="en-US" altLang="zh-CN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anose="02010609060101010101" pitchFamily="49" charset="-122"/>
              </a:rPr>
              <a:t>UNIT 00      </a:t>
            </a:r>
          </a:p>
          <a:p>
            <a:pPr>
              <a:spcBef>
                <a:spcPct val="50000"/>
              </a:spcBef>
            </a:pPr>
            <a:r>
              <a:rPr lang="zh-CN" altLang="en-US" sz="4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微软雅黑" panose="020B0503020204020204" pitchFamily="34" charset="-122"/>
              </a:rPr>
              <a:t>大作业（综合实验环节）</a:t>
            </a:r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00071" name="Text Box 7"/>
          <p:cNvSpPr txBox="1">
            <a:spLocks noChangeArrowheads="1"/>
          </p:cNvSpPr>
          <p:nvPr/>
        </p:nvSpPr>
        <p:spPr bwMode="auto">
          <a:xfrm>
            <a:off x="2339752" y="5443393"/>
            <a:ext cx="5810200" cy="426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FFFF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《</a:t>
            </a:r>
            <a:r>
              <a:rPr lang="zh-CN" altLang="en-US" sz="2800" dirty="0">
                <a:solidFill>
                  <a:srgbClr val="FFFF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高级语言程序设计</a:t>
            </a:r>
            <a:r>
              <a:rPr lang="en-US" altLang="zh-CN" sz="2800" dirty="0">
                <a:solidFill>
                  <a:srgbClr val="FFFF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》</a:t>
            </a:r>
            <a:r>
              <a:rPr lang="zh-CN" altLang="en-US" sz="2800" dirty="0">
                <a:solidFill>
                  <a:srgbClr val="FFFF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课程组</a:t>
            </a:r>
            <a:endParaRPr lang="en-US" altLang="zh-CN" sz="2800" dirty="0">
              <a:solidFill>
                <a:srgbClr val="FFFF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 bwMode="auto">
          <a:xfrm>
            <a:off x="1758752" y="475441"/>
            <a:ext cx="5261520" cy="5810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di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高级语言程序设计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实验指导</a:t>
            </a:r>
          </a:p>
        </p:txBody>
      </p:sp>
    </p:spTree>
    <p:extLst>
      <p:ext uri="{BB962C8B-B14F-4D97-AF65-F5344CB8AC3E}">
        <p14:creationId xmlns:p14="http://schemas.microsoft.com/office/powerpoint/2010/main" val="24884668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1043608" y="1176341"/>
            <a:ext cx="7956550" cy="95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179388" lvl="1" indent="0" algn="l" eaLnBrk="1" hangingPunct="1">
              <a:lnSpc>
                <a:spcPct val="15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zh-CN" altLang="en-US" sz="2400" dirty="0">
                <a:latin typeface="+mn-lt"/>
                <a:ea typeface="+mj-ea"/>
              </a:rPr>
              <a:t>实验目的：</a:t>
            </a:r>
            <a:endParaRPr lang="en-US" altLang="zh-CN" sz="2400" dirty="0">
              <a:latin typeface="+mn-lt"/>
              <a:ea typeface="+mj-ea"/>
            </a:endParaRPr>
          </a:p>
          <a:p>
            <a:pPr lvl="0" algn="just">
              <a:spcAft>
                <a:spcPts val="0"/>
              </a:spcAft>
              <a:buFont typeface="+mj-lt"/>
              <a:buAutoNum type="arabicPeriod"/>
              <a:tabLst>
                <a:tab pos="266700" algn="l"/>
              </a:tabLst>
            </a:pPr>
            <a:r>
              <a:rPr lang="zh-CN" altLang="zh-CN" sz="2400" dirty="0">
                <a:latin typeface="+mn-lt"/>
                <a:ea typeface="+mj-ea"/>
              </a:rPr>
              <a:t>本次上机实验是《程序设计</a:t>
            </a:r>
            <a:r>
              <a:rPr lang="en-US" altLang="zh-CN" sz="2400" dirty="0">
                <a:latin typeface="+mn-lt"/>
                <a:ea typeface="+mj-ea"/>
              </a:rPr>
              <a:t>D</a:t>
            </a:r>
            <a:r>
              <a:rPr lang="zh-CN" altLang="zh-CN" sz="2400" dirty="0">
                <a:latin typeface="+mn-lt"/>
                <a:ea typeface="+mj-ea"/>
              </a:rPr>
              <a:t>》课程的综合实验练习，相当于课程设计。</a:t>
            </a:r>
          </a:p>
          <a:p>
            <a:pPr lvl="0" algn="just">
              <a:spcAft>
                <a:spcPts val="0"/>
              </a:spcAft>
              <a:buFont typeface="+mj-lt"/>
              <a:buAutoNum type="arabicPeriod"/>
              <a:tabLst>
                <a:tab pos="266700" algn="l"/>
              </a:tabLst>
            </a:pPr>
            <a:r>
              <a:rPr lang="zh-CN" altLang="zh-CN" sz="2400" dirty="0">
                <a:latin typeface="+mn-lt"/>
                <a:ea typeface="+mj-ea"/>
              </a:rPr>
              <a:t>在初步掌握</a:t>
            </a:r>
            <a:r>
              <a:rPr lang="en-US" altLang="zh-CN" sz="2400" dirty="0">
                <a:latin typeface="+mn-lt"/>
                <a:ea typeface="+mj-ea"/>
              </a:rPr>
              <a:t>C++</a:t>
            </a:r>
            <a:r>
              <a:rPr lang="zh-CN" altLang="zh-CN" sz="2400" dirty="0">
                <a:latin typeface="+mn-lt"/>
                <a:ea typeface="+mj-ea"/>
              </a:rPr>
              <a:t>语言基本概念和语法的基本之上，通过实践练习编写一个综合的</a:t>
            </a:r>
            <a:r>
              <a:rPr lang="en-US" altLang="zh-CN" sz="2400" dirty="0">
                <a:latin typeface="+mn-lt"/>
                <a:ea typeface="+mj-ea"/>
              </a:rPr>
              <a:t>C++</a:t>
            </a:r>
            <a:r>
              <a:rPr lang="zh-CN" altLang="zh-CN" sz="2400" dirty="0">
                <a:latin typeface="+mn-lt"/>
                <a:ea typeface="+mj-ea"/>
              </a:rPr>
              <a:t>程序，提高编写大型程序的能力，帮助掌握模块化程序设计思想和一些基础的算法设计方法。</a:t>
            </a:r>
          </a:p>
          <a:p>
            <a:pPr lvl="0" algn="just">
              <a:spcAft>
                <a:spcPts val="0"/>
              </a:spcAft>
              <a:buFont typeface="+mj-lt"/>
              <a:buAutoNum type="arabicPeriod"/>
              <a:tabLst>
                <a:tab pos="266700" algn="l"/>
              </a:tabLst>
            </a:pPr>
            <a:r>
              <a:rPr lang="zh-CN" altLang="zh-CN" sz="2400" dirty="0">
                <a:latin typeface="+mn-lt"/>
                <a:ea typeface="+mj-ea"/>
              </a:rPr>
              <a:t>通过本次实验，加强学生自主学习、收集资料和动手编程的能力，为后续专业课程打好基础。</a:t>
            </a: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5583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971600" y="1579082"/>
            <a:ext cx="7956550" cy="95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179388" lvl="1" indent="0" algn="l" eaLnBrk="1" hangingPunct="1">
              <a:lnSpc>
                <a:spcPct val="15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zh-CN" altLang="en-US" sz="2400" dirty="0">
                <a:latin typeface="+mn-lt"/>
                <a:ea typeface="+mj-ea"/>
              </a:rPr>
              <a:t>实验要求：</a:t>
            </a:r>
            <a:endParaRPr lang="en-US" altLang="zh-CN" sz="2400" dirty="0">
              <a:latin typeface="+mn-lt"/>
              <a:ea typeface="+mj-ea"/>
            </a:endParaRPr>
          </a:p>
          <a:p>
            <a:pPr lvl="0" algn="l">
              <a:spcAft>
                <a:spcPts val="0"/>
              </a:spcAft>
              <a:buFont typeface="+mj-lt"/>
              <a:buAutoNum type="arabicPeriod"/>
              <a:tabLst>
                <a:tab pos="266700" algn="l"/>
              </a:tabLst>
            </a:pPr>
            <a:r>
              <a:rPr lang="zh-CN" altLang="zh-CN" sz="2400" dirty="0">
                <a:latin typeface="+mn-lt"/>
                <a:ea typeface="+mj-ea"/>
              </a:rPr>
              <a:t>本次课程设计要求每人完成一个题目，题目可以选择本次实验指导中的参考题目，也可</a:t>
            </a:r>
            <a:r>
              <a:rPr lang="zh-CN" altLang="zh-CN" sz="3200" i="1" u="sng" dirty="0">
                <a:solidFill>
                  <a:srgbClr val="FFFF00"/>
                </a:solidFill>
                <a:latin typeface="+mn-lt"/>
                <a:ea typeface="+mj-ea"/>
              </a:rPr>
              <a:t>自行选题</a:t>
            </a:r>
            <a:r>
              <a:rPr lang="zh-CN" altLang="zh-CN" sz="2400" dirty="0">
                <a:latin typeface="+mn-lt"/>
                <a:ea typeface="+mj-ea"/>
              </a:rPr>
              <a:t>。</a:t>
            </a:r>
          </a:p>
          <a:p>
            <a:pPr lvl="0" algn="l">
              <a:spcAft>
                <a:spcPts val="0"/>
              </a:spcAft>
              <a:buFont typeface="+mj-lt"/>
              <a:buAutoNum type="arabicPeriod"/>
              <a:tabLst>
                <a:tab pos="266700" algn="l"/>
              </a:tabLst>
            </a:pPr>
            <a:r>
              <a:rPr lang="zh-CN" altLang="en-US" sz="2400" i="1" u="sng" dirty="0">
                <a:solidFill>
                  <a:srgbClr val="FFFF00"/>
                </a:solidFill>
                <a:latin typeface="+mn-lt"/>
                <a:ea typeface="+mj-ea"/>
              </a:rPr>
              <a:t>每人要求独立完成</a:t>
            </a:r>
            <a:r>
              <a:rPr lang="en-US" altLang="zh-CN" sz="2400" i="1" u="sng" dirty="0">
                <a:solidFill>
                  <a:srgbClr val="FFFF00"/>
                </a:solidFill>
                <a:latin typeface="+mn-lt"/>
                <a:ea typeface="+mj-ea"/>
              </a:rPr>
              <a:t>1500+</a:t>
            </a:r>
            <a:r>
              <a:rPr lang="zh-CN" altLang="en-US" sz="2400" i="1" u="sng" dirty="0">
                <a:solidFill>
                  <a:srgbClr val="FFFF00"/>
                </a:solidFill>
                <a:latin typeface="+mn-lt"/>
                <a:ea typeface="+mj-ea"/>
              </a:rPr>
              <a:t>行数编码工作！</a:t>
            </a:r>
            <a:endParaRPr lang="en-US" altLang="zh-CN" sz="2800" i="1" u="sng" dirty="0">
              <a:solidFill>
                <a:srgbClr val="FFFF00"/>
              </a:solidFill>
              <a:latin typeface="+mn-lt"/>
              <a:ea typeface="+mj-ea"/>
            </a:endParaRPr>
          </a:p>
          <a:p>
            <a:pPr lvl="0" algn="l">
              <a:spcAft>
                <a:spcPts val="0"/>
              </a:spcAft>
              <a:buFont typeface="+mj-lt"/>
              <a:buAutoNum type="arabicPeriod"/>
              <a:tabLst>
                <a:tab pos="266700" algn="l"/>
              </a:tabLst>
            </a:pPr>
            <a:r>
              <a:rPr lang="zh-CN" altLang="zh-CN" sz="2400" dirty="0">
                <a:latin typeface="+mn-lt"/>
                <a:ea typeface="+mj-ea"/>
              </a:rPr>
              <a:t>可选择使</a:t>
            </a:r>
            <a:r>
              <a:rPr lang="zh-CN" altLang="en-US" sz="2400" dirty="0">
                <a:latin typeface="+mn-lt"/>
                <a:ea typeface="+mj-ea"/>
              </a:rPr>
              <a:t>用</a:t>
            </a:r>
            <a:r>
              <a:rPr lang="en-US" altLang="zh-CN" sz="2400" dirty="0">
                <a:latin typeface="+mn-lt"/>
                <a:ea typeface="+mj-ea"/>
              </a:rPr>
              <a:t>Visual C++</a:t>
            </a:r>
            <a:r>
              <a:rPr lang="zh-CN" altLang="zh-CN" sz="2400" dirty="0">
                <a:latin typeface="+mn-lt"/>
                <a:ea typeface="+mj-ea"/>
              </a:rPr>
              <a:t>等任何一种熟悉的</a:t>
            </a:r>
            <a:r>
              <a:rPr lang="en-US" altLang="zh-CN" sz="2400" dirty="0">
                <a:latin typeface="+mn-lt"/>
                <a:ea typeface="+mj-ea"/>
              </a:rPr>
              <a:t>C++</a:t>
            </a:r>
            <a:r>
              <a:rPr lang="zh-CN" altLang="zh-CN" sz="2400" dirty="0">
                <a:latin typeface="+mn-lt"/>
                <a:ea typeface="+mj-ea"/>
              </a:rPr>
              <a:t>开发环境。</a:t>
            </a:r>
            <a:endParaRPr lang="en-US" altLang="zh-CN" sz="2400" dirty="0">
              <a:latin typeface="+mn-lt"/>
              <a:ea typeface="+mj-ea"/>
            </a:endParaRPr>
          </a:p>
          <a:p>
            <a:pPr lvl="0" algn="l">
              <a:spcAft>
                <a:spcPts val="0"/>
              </a:spcAft>
              <a:buFont typeface="+mj-lt"/>
              <a:buAutoNum type="arabicPeriod"/>
              <a:tabLst>
                <a:tab pos="266700" algn="l"/>
              </a:tabLst>
            </a:pPr>
            <a:r>
              <a:rPr lang="zh-CN" altLang="zh-CN" sz="2400" dirty="0">
                <a:latin typeface="+mn-lt"/>
                <a:ea typeface="+mj-ea"/>
              </a:rPr>
              <a:t>程序要求调试通过；大作业结束后，需要完成大作业实验报告</a:t>
            </a:r>
            <a:r>
              <a:rPr lang="zh-CN" altLang="en-US" sz="2400" dirty="0">
                <a:latin typeface="+mn-lt"/>
                <a:ea typeface="+mj-ea"/>
              </a:rPr>
              <a:t>电子版</a:t>
            </a:r>
            <a:r>
              <a:rPr lang="zh-CN" altLang="zh-CN" sz="2400" dirty="0">
                <a:latin typeface="+mn-lt"/>
                <a:ea typeface="+mj-ea"/>
              </a:rPr>
              <a:t>一份</a:t>
            </a:r>
            <a:r>
              <a:rPr lang="zh-CN" altLang="en-US" sz="2400" dirty="0">
                <a:latin typeface="+mn-lt"/>
                <a:ea typeface="+mj-ea"/>
              </a:rPr>
              <a:t>和源代码电子版一份。</a:t>
            </a:r>
            <a:endParaRPr lang="en-US" altLang="zh-CN" sz="2400" dirty="0">
              <a:latin typeface="+mn-lt"/>
              <a:ea typeface="+mj-ea"/>
            </a:endParaRP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8498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3032" y="110966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en-US" altLang="zh-CN" dirty="0"/>
              <a:t>         使用 C++ 实现一个具备服务端和客户端的即时通信聊天室</a:t>
            </a:r>
            <a:r>
              <a:rPr lang="zh-CN" altLang="en-US" dirty="0"/>
              <a:t>。网络聊天室由一个服务器与多个客服端组成，客服端可以随时加入，也能随时退出，而不影响其他客户端的正常运作。客服端无任何限制发送或接受的条件，达到及时发送及时接收的功能。服务器作为唯一后台运行程序，为客户端之间的互聊提供服务。</a:t>
            </a:r>
            <a:r>
              <a:rPr altLang="zh-CN" dirty="0"/>
              <a:t>聊天室的</a:t>
            </a:r>
            <a:r>
              <a:rPr lang="zh-CN" dirty="0"/>
              <a:t>用户包括管理员和普通用户，</a:t>
            </a:r>
            <a:r>
              <a:rPr altLang="zh-CN" dirty="0"/>
              <a:t>功能定位包括：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普通用户的注册登录功能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管理员的查看在线用户功能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普通用户的群聊和私信功能。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用户对会话记录的管理功能。</a:t>
            </a:r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各种数据可以存储在数据库或数据文件中，数据结构、具体数据项自定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70859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：即时通信聊天室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4685" y="6657975"/>
            <a:ext cx="91440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72770" y="6668135"/>
            <a:ext cx="90805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238789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3032" y="110966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en-US" altLang="zh-CN" dirty="0"/>
              <a:t>         </a:t>
            </a:r>
            <a:r>
              <a:rPr dirty="0"/>
              <a:t>RSS是一种遵循W3C RDF规范的XML格式，是一种轻量级、多用途、可扩展的元数据描述及联合推广格式</a:t>
            </a:r>
            <a:r>
              <a:rPr lang="zh-CN" dirty="0"/>
              <a:t>。RSS协议的存在，解决了Blog文章可以更容易被集中阅读，在同样一个UI框架内，集中在文字本身。就本质而言，RSS是一种信息聚合的技术，它是基于XML的一种“描述和同步网站内容”的格式，为了提供更方便、高效的互联网信息的发布和共享。一款</a:t>
            </a:r>
            <a:r>
              <a:rPr lang="en-US" altLang="zh-CN" dirty="0"/>
              <a:t>RSS</a:t>
            </a:r>
            <a:r>
              <a:rPr lang="zh-CN" altLang="en-US" dirty="0"/>
              <a:t>新闻阅读笔记应包含以下功能：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多源</a:t>
            </a:r>
            <a:r>
              <a:rPr lang="en-US" altLang="zh-CN" dirty="0">
                <a:sym typeface="+mn-ea"/>
              </a:rPr>
              <a:t>RSS</a:t>
            </a:r>
            <a:r>
              <a:rPr lang="zh-CN" altLang="en-US" dirty="0">
                <a:sym typeface="+mn-ea"/>
              </a:rPr>
              <a:t>解析整合。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用户注册登录。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新闻资讯搜索：关键词可搜索相关的新闻资讯。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新闻资讯点赞评论：用户可对新闻资讯进行评论。</a:t>
            </a:r>
            <a:endParaRPr dirty="0"/>
          </a:p>
          <a:p>
            <a:pPr marL="0" indent="0"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各种数据可以存储在数据库或数据文件中，数据结构、具体数据项自定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70859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2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RSS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新闻资讯阅读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4685" y="6657975"/>
            <a:ext cx="91440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72770" y="6668135"/>
            <a:ext cx="90805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792754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121899" y="611652"/>
            <a:ext cx="8899357" cy="383965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en-US" altLang="zh-CN" dirty="0"/>
              <a:t>      </a:t>
            </a:r>
            <a:r>
              <a:rPr lang="zh-CN" altLang="en-US" dirty="0"/>
              <a:t> 使用 </a:t>
            </a:r>
            <a:r>
              <a:rPr lang="en-US" altLang="zh-CN" dirty="0"/>
              <a:t>C++ </a:t>
            </a:r>
            <a:r>
              <a:rPr lang="zh-CN" altLang="en-US" dirty="0"/>
              <a:t>实现桌面助手，至少具备三个功能，功能包括但不局限于下列选项（可以自行扩展 功能）：</a:t>
            </a:r>
            <a:endParaRPr lang="en-US" altLang="zh-CN" dirty="0"/>
          </a:p>
          <a:p>
            <a:pPr marL="0" indent="0" algn="l"/>
            <a:r>
              <a:rPr lang="en-US" altLang="zh-CN" dirty="0"/>
              <a:t>1.</a:t>
            </a:r>
            <a:r>
              <a:rPr lang="zh-CN" altLang="en-US" dirty="0"/>
              <a:t>记账本，记录日常收入和开销，包括分门别类按照周期进行统计及展示；</a:t>
            </a:r>
            <a:endParaRPr lang="en-US" altLang="zh-CN" dirty="0"/>
          </a:p>
          <a:p>
            <a:pPr marL="0" indent="0" algn="l"/>
            <a:r>
              <a:rPr lang="en-US" altLang="zh-CN" dirty="0"/>
              <a:t>2. </a:t>
            </a:r>
            <a:r>
              <a:rPr lang="zh-CN" altLang="en-US" dirty="0"/>
              <a:t>课程备忘录，记录上课的课表，课程提醒，作业</a:t>
            </a:r>
            <a:r>
              <a:rPr lang="en-US" altLang="zh-CN" dirty="0" err="1"/>
              <a:t>ddl</a:t>
            </a:r>
            <a:r>
              <a:rPr lang="zh-CN" altLang="en-US" dirty="0"/>
              <a:t>提醒，以及其他课程学习相关事务的管理；</a:t>
            </a:r>
            <a:endParaRPr lang="en-US" altLang="zh-CN" dirty="0"/>
          </a:p>
          <a:p>
            <a:pPr marL="0" indent="0" algn="l"/>
            <a:r>
              <a:rPr lang="en-US" altLang="zh-CN" dirty="0"/>
              <a:t>3.</a:t>
            </a:r>
            <a:r>
              <a:rPr lang="zh-CN" altLang="en-US" dirty="0"/>
              <a:t>工作记录器，类似于日程管理软件或番茄时钟之类，用于记录自己的学习十点，地点，内容等；</a:t>
            </a:r>
            <a:endParaRPr lang="en-US" altLang="zh-CN" dirty="0"/>
          </a:p>
          <a:p>
            <a:pPr marL="0" indent="0" algn="l"/>
            <a:r>
              <a:rPr lang="en-US" altLang="zh-CN" dirty="0"/>
              <a:t>4.</a:t>
            </a:r>
            <a:r>
              <a:rPr lang="zh-CN" altLang="en-US" dirty="0"/>
              <a:t>密码记录器，记录自己常用的账号及密码信息等，查询的时候注意隐私保护和处理；</a:t>
            </a:r>
            <a:endParaRPr lang="en-US" altLang="zh-CN" dirty="0"/>
          </a:p>
          <a:p>
            <a:pPr marL="0" indent="0" algn="l"/>
            <a:r>
              <a:rPr lang="en-US" altLang="zh-CN" dirty="0"/>
              <a:t>5.</a:t>
            </a:r>
            <a:r>
              <a:rPr lang="zh-CN" altLang="en-US" dirty="0"/>
              <a:t>生活轨迹生成器，能够根据的图片，文档等相关日期信息，按使劲按排序，自动搜寻导入相关的数据，排序，摘出其日期信息，并按其类型，生成一个填入模板，让用户只要填很少的文字就可以简单记录一天，用户也可以根据需要进行选择，只保留重要的图片或者文档等信息。</a:t>
            </a:r>
            <a:endParaRPr lang="en-US" altLang="zh-CN" dirty="0">
              <a:solidFill>
                <a:srgbClr val="FFFF00"/>
              </a:solidFill>
            </a:endParaRPr>
          </a:p>
          <a:p>
            <a:pPr marL="0" lvl="0" indent="0"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各种数据可以存储在数据库或数据文件中，数据结构、具体数据项自定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71755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70859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890350" y="-56916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3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：桌面助手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4685" y="6657975"/>
            <a:ext cx="91440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39750" y="6657975"/>
            <a:ext cx="90805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3708829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3032" y="110966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en-US" altLang="zh-CN" dirty="0"/>
              <a:t>      </a:t>
            </a:r>
            <a:r>
              <a:rPr lang="zh-CN" dirty="0"/>
              <a:t>搜集股票每日行情和相关行业新闻</a:t>
            </a:r>
            <a:r>
              <a:rPr dirty="0"/>
              <a:t>数据集，包含美国股市和中国股市的每日行情数据，编写 C++程序完成要求的股票数据获取、存储和调用，到利用获取的数据进行简单的统计分析，最后数据可视化及分析。</a:t>
            </a:r>
          </a:p>
          <a:p>
            <a:pPr marL="457200" indent="-457200" algn="l">
              <a:buFont typeface="+mj-lt"/>
              <a:buAutoNum type="arabicPeriod"/>
            </a:pPr>
            <a:r>
              <a:rPr lang="zh-CN" dirty="0">
                <a:sym typeface="+mn-ea"/>
              </a:rPr>
              <a:t>数据清洗：对获取的数据进行清洗，以便进行后续的分析。</a:t>
            </a:r>
            <a:endParaRPr 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dirty="0">
                <a:sym typeface="+mn-ea"/>
              </a:rPr>
              <a:t>技术指标计算：计算涨跌额和涨跌幅、</a:t>
            </a:r>
            <a:r>
              <a:rPr lang="zh-CN" dirty="0"/>
              <a:t>夏普比率、KDJ、BOLL等技术指标</a:t>
            </a:r>
            <a:r>
              <a:rPr lang="zh-CN" dirty="0">
                <a:sym typeface="+mn-ea"/>
              </a:rPr>
              <a:t>并进行排序</a:t>
            </a:r>
            <a:r>
              <a:rPr lang="zh-CN" dirty="0"/>
              <a:t>，以便进行后续的分析</a:t>
            </a:r>
          </a:p>
          <a:p>
            <a:pPr marL="457200" indent="-457200" algn="l">
              <a:buFont typeface="+mj-lt"/>
              <a:buAutoNum type="arabicPeriod"/>
            </a:pPr>
            <a:r>
              <a:rPr lang="zh-CN" dirty="0"/>
              <a:t>数据可视化：绘制</a:t>
            </a:r>
            <a:r>
              <a:rPr lang="en-US" altLang="zh-CN" dirty="0"/>
              <a:t>K</a:t>
            </a:r>
            <a:r>
              <a:rPr lang="zh-CN" altLang="en-US" dirty="0"/>
              <a:t>线图等图标进行数据可视化</a:t>
            </a:r>
          </a:p>
          <a:p>
            <a:pPr marL="457200" indent="-457200" algn="l">
              <a:buFont typeface="+mj-lt"/>
              <a:buAutoNum type="arabicPeriod"/>
            </a:pPr>
            <a:r>
              <a:rPr lang="zh-CN" dirty="0"/>
              <a:t>趋势分析（进阶）：基于机器学习算法实现股票价格预测，异常股票筛选等功能。</a:t>
            </a:r>
          </a:p>
          <a:p>
            <a:pPr marL="0" indent="0" algn="l">
              <a:buFont typeface="+mj-lt"/>
              <a:buNone/>
            </a:pPr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各种数据可以存储在数据库或数据文件中，数据结构、具体数据项自定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71755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70859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899953" y="260465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4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：股票数据的可视化分析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4685" y="6657975"/>
            <a:ext cx="91440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39750" y="6657975"/>
            <a:ext cx="90805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0832684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28262" y="110966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en-US" altLang="zh-CN" dirty="0"/>
              <a:t>      </a:t>
            </a:r>
            <a:r>
              <a:rPr dirty="0"/>
              <a:t>生命游戏也叫康威生命游戏、细胞自动机、元胞自动机等。它是一个二维矩形世界，这个世界中的每个方格居住着一个活细胞或为空。一个细胞在下一个时刻的生死取决于相邻八个方格中的活细胞数量，使整个生命世界不至于太过荒凉或拥挤，达成一种动态的平衡。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允许自定义细胞的存活条件。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可视化每时刻整个世界内的全部细胞生存状态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控制游戏速度（每秒演化速度）和暂停游戏。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在任意时刻更改细胞存活条件</a:t>
            </a:r>
          </a:p>
          <a:p>
            <a:pPr marL="0" indent="0"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各种数据可以存储在数据库或数据文件中，数据结构、具体数据项自定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71755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70859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899953" y="260465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5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：生命游戏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4685" y="6657975"/>
            <a:ext cx="91440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39750" y="6657975"/>
            <a:ext cx="90805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9314569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28040" y="1109980"/>
            <a:ext cx="7956550" cy="46958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en-US" altLang="zh-CN" dirty="0"/>
              <a:t>      </a:t>
            </a:r>
            <a:r>
              <a:rPr dirty="0"/>
              <a:t>物流配送系统，假设只有起始站点才能载货，一辆车的当前配送路线可涉及多条固定配送路线的站点；</a:t>
            </a:r>
            <a:r>
              <a:rPr lang="zh-CN" dirty="0"/>
              <a:t>需要实现：</a:t>
            </a:r>
          </a:p>
          <a:p>
            <a:pPr marL="457200" indent="-457200" algn="l">
              <a:buFont typeface="+mj-lt"/>
              <a:buAutoNum type="arabicPeriod"/>
            </a:pPr>
            <a:r>
              <a:rPr lang="zh-CN" dirty="0"/>
              <a:t>信息管理：</a:t>
            </a:r>
            <a:r>
              <a:rPr dirty="0"/>
              <a:t>配送路线基本信息</a:t>
            </a:r>
            <a:r>
              <a:rPr lang="zh-CN" dirty="0"/>
              <a:t>增删改；</a:t>
            </a:r>
            <a:r>
              <a:rPr dirty="0"/>
              <a:t>路线经停站点基本信息</a:t>
            </a:r>
            <a:r>
              <a:rPr lang="zh-CN" dirty="0">
                <a:sym typeface="+mn-ea"/>
              </a:rPr>
              <a:t>增删改</a:t>
            </a:r>
            <a:r>
              <a:rPr dirty="0"/>
              <a:t>；站点经停车辆基本信息</a:t>
            </a:r>
            <a:r>
              <a:rPr lang="zh-CN" dirty="0">
                <a:sym typeface="+mn-ea"/>
              </a:rPr>
              <a:t>增删改</a:t>
            </a:r>
            <a:r>
              <a:rPr dirty="0"/>
              <a:t>；</a:t>
            </a:r>
          </a:p>
          <a:p>
            <a:pPr marL="457200" indent="-457200" algn="l">
              <a:buFont typeface="+mj-lt"/>
              <a:buAutoNum type="arabicPeriod"/>
            </a:pPr>
            <a:r>
              <a:rPr lang="zh-CN" dirty="0"/>
              <a:t>查询：经停某站点的所有路线；</a:t>
            </a:r>
            <a:r>
              <a:rPr dirty="0"/>
              <a:t>耗时最长及最短的路线</a:t>
            </a:r>
            <a:r>
              <a:rPr lang="zh-CN" dirty="0"/>
              <a:t>；</a:t>
            </a:r>
            <a:r>
              <a:rPr dirty="0"/>
              <a:t>路线公里数最长及最短的路线</a:t>
            </a:r>
            <a:r>
              <a:rPr lang="zh-CN" dirty="0"/>
              <a:t>；</a:t>
            </a:r>
            <a:r>
              <a:rPr dirty="0"/>
              <a:t>指定路线的所有经停站点</a:t>
            </a:r>
            <a:r>
              <a:rPr lang="zh-CN" dirty="0"/>
              <a:t>；</a:t>
            </a:r>
            <a:r>
              <a:rPr dirty="0"/>
              <a:t>经停某站点，且剩余可载货容量为指定重量的车辆</a:t>
            </a:r>
            <a:r>
              <a:rPr lang="zh-CN" dirty="0"/>
              <a:t>；</a:t>
            </a:r>
            <a:r>
              <a:rPr dirty="0"/>
              <a:t>查询指定司机的配送清单</a:t>
            </a:r>
            <a:r>
              <a:rPr lang="zh-CN" dirty="0"/>
              <a:t>；</a:t>
            </a:r>
            <a:r>
              <a:rPr dirty="0"/>
              <a:t>查询指定车辆的司机联系方式</a:t>
            </a:r>
            <a:r>
              <a:rPr lang="zh-CN" dirty="0"/>
              <a:t>；</a:t>
            </a:r>
            <a:r>
              <a:rPr dirty="0"/>
              <a:t>查询指定车辆的配送路线。</a:t>
            </a:r>
          </a:p>
          <a:p>
            <a:pPr marL="457200" indent="-457200" algn="l">
              <a:buFont typeface="+mj-lt"/>
              <a:buAutoNum type="arabicPeriod"/>
            </a:pPr>
            <a:r>
              <a:rPr lang="zh-CN" dirty="0"/>
              <a:t>报表：为每辆车生成当前设计的配送计划图，按站点序给出路线中各经停站点以及站点所卸载货物的编号；统计所有车辆当前配送路线的总里程数、最长路线里程数、最短路线里程数、平均里程数、总耗时、最短耗时、最长耗时平均耗时、总载货量、最大载货量、最小载货量和平均载货量等。 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107950" y="2348548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70859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899953" y="260465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6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：物流配送管理信息系统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4685" y="6657975"/>
            <a:ext cx="91440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39750" y="6657975"/>
            <a:ext cx="90805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3400711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628968" y="652145"/>
          <a:ext cx="4872038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宋体" charset="0"/>
                          <a:cs typeface="宋体" charset="0"/>
                        </a:rPr>
                        <a:t>中文字段名</a:t>
                      </a:r>
                      <a:endParaRPr lang="en-US" altLang="en-US" sz="1000" b="1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宋体" charset="0"/>
                          <a:cs typeface="宋体" charset="0"/>
                        </a:rPr>
                        <a:t>类型及长度</a:t>
                      </a:r>
                      <a:endParaRPr lang="en-US" altLang="en-US" sz="1000" b="1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黑体" charset="0"/>
                          <a:cs typeface="黑体" charset="0"/>
                        </a:rPr>
                        <a:t>举例</a:t>
                      </a:r>
                      <a:endParaRPr lang="en-US" altLang="en-US" sz="1000" b="1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固定配送路线编号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</a:t>
                      </a: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</a:t>
                      </a: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[6]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固定配送路线名称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</a:t>
                      </a: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</a:t>
                      </a: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[20]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如：关山线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固定配送路线总站点数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short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固定配送路线总公里数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float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全站点配送总耗时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float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正常交通情况下的总耗时（包括站点停留耗时），分钟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起始站点编号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</a:t>
                      </a: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</a:t>
                      </a: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[10]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终止站点编号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</a:t>
                      </a: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</a:t>
                      </a: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[10]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负责人姓名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char[8]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负责人办公室电话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char[8]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负责人移动电话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char[11]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负责人电子邮箱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char[50]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57213" y="2635885"/>
            <a:ext cx="508000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 algn="l"/>
            <a:r>
              <a:rPr lang="en-US" sz="1050" b="0">
                <a:latin typeface="宋体" charset="0"/>
              </a:rPr>
              <a:t> </a:t>
            </a:r>
            <a:endParaRPr lang="en-US" sz="1050" b="0">
              <a:latin typeface="Times New Roman" panose="02020603050405020304" pitchFamily="18" charset="0"/>
            </a:endParaRPr>
          </a:p>
          <a:p>
            <a:pPr marL="0" indent="0" algn="l"/>
            <a:r>
              <a:rPr lang="en-US" sz="1050" b="0">
                <a:latin typeface="Times New Roman" panose="02020603050405020304" pitchFamily="18" charset="0"/>
              </a:rPr>
              <a:t>2</a:t>
            </a:r>
            <a:r>
              <a:rPr lang="zh-CN" sz="1050" b="0">
                <a:cs typeface="宋体" charset="0"/>
              </a:rPr>
              <a:t>．经停站点详细信息参考：</a:t>
            </a:r>
            <a:r>
              <a:rPr lang="en-US" sz="1050" b="0">
                <a:latin typeface="宋体" charset="0"/>
              </a:rPr>
              <a:t> </a:t>
            </a:r>
            <a:endParaRPr lang="zh-CN" altLang="en-US"/>
          </a:p>
        </p:txBody>
      </p:sp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628968" y="3047365"/>
          <a:ext cx="4872038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宋体" charset="0"/>
                          <a:cs typeface="宋体" charset="0"/>
                        </a:rPr>
                        <a:t>中文字段名</a:t>
                      </a:r>
                      <a:endParaRPr lang="en-US" altLang="en-US" sz="1000" b="1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宋体" charset="0"/>
                          <a:cs typeface="宋体" charset="0"/>
                        </a:rPr>
                        <a:t>类型及长度</a:t>
                      </a:r>
                      <a:endParaRPr lang="en-US" altLang="en-US" sz="1000" b="1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黑体" charset="0"/>
                          <a:cs typeface="黑体" charset="0"/>
                        </a:rPr>
                        <a:t>举例</a:t>
                      </a:r>
                      <a:endParaRPr lang="en-US" altLang="en-US" sz="1000" b="1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固定配送路线编号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</a:t>
                      </a: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</a:t>
                      </a: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[6]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站点序号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int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站点编号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</a:t>
                      </a: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</a:t>
                      </a: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[10]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uFillTx/>
                          <a:latin typeface="宋体" charset="0"/>
                          <a:cs typeface="宋体" charset="0"/>
                        </a:rPr>
                        <a:t>站点名称</a:t>
                      </a:r>
                      <a:endParaRPr lang="en-US" altLang="en-US" sz="1000" b="0">
                        <a:solidFill>
                          <a:schemeClr val="tx1"/>
                        </a:solidFill>
                        <a:uFillTx/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char[50]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uFillTx/>
                          <a:latin typeface="宋体" charset="0"/>
                          <a:cs typeface="宋体" charset="0"/>
                        </a:rPr>
                        <a:t>与起始站点距离</a:t>
                      </a:r>
                      <a:endParaRPr lang="en-US" altLang="en-US" sz="1000" b="0">
                        <a:solidFill>
                          <a:schemeClr val="tx1"/>
                        </a:solidFill>
                        <a:uFillTx/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float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公里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uFillTx/>
                          <a:latin typeface="宋体" charset="0"/>
                          <a:cs typeface="宋体" charset="0"/>
                        </a:rPr>
                        <a:t>与上一个站点距离</a:t>
                      </a:r>
                      <a:endParaRPr lang="en-US" altLang="en-US" sz="1000" b="0">
                        <a:solidFill>
                          <a:schemeClr val="tx1"/>
                        </a:solidFill>
                        <a:uFillTx/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float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公里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uFillTx/>
                          <a:latin typeface="宋体" charset="0"/>
                          <a:cs typeface="宋体" charset="0"/>
                        </a:rPr>
                        <a:t>与上一个站点交通耗时</a:t>
                      </a:r>
                      <a:endParaRPr lang="en-US" altLang="en-US" sz="1000" b="0">
                        <a:solidFill>
                          <a:schemeClr val="tx1"/>
                        </a:solidFill>
                        <a:uFillTx/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float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分钟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uFillTx/>
                          <a:latin typeface="宋体" charset="0"/>
                          <a:cs typeface="宋体" charset="0"/>
                        </a:rPr>
                        <a:t>停留耗时</a:t>
                      </a:r>
                      <a:endParaRPr lang="en-US" altLang="en-US" sz="1000" b="0">
                        <a:solidFill>
                          <a:schemeClr val="tx1"/>
                        </a:solidFill>
                        <a:uFillTx/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float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分钟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uFillTx/>
                          <a:latin typeface="宋体" charset="0"/>
                          <a:cs typeface="宋体" charset="0"/>
                        </a:rPr>
                        <a:t>经过本站点固定路线编号，如为多条固定路线的交汇站点，需要给出多条固定路线编号</a:t>
                      </a:r>
                      <a:endParaRPr lang="en-US" altLang="en-US" sz="1000" b="0">
                        <a:solidFill>
                          <a:schemeClr val="tx1"/>
                        </a:solidFill>
                        <a:uFillTx/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57213" y="4887595"/>
            <a:ext cx="508000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 algn="l"/>
            <a:endParaRPr lang="zh-CN" sz="1050" b="0">
              <a:cs typeface="宋体" charset="0"/>
            </a:endParaRPr>
          </a:p>
          <a:p>
            <a:pPr marL="0" indent="0" algn="l"/>
            <a:r>
              <a:rPr lang="zh-CN" sz="1050" b="0">
                <a:cs typeface="宋体" charset="0"/>
              </a:rPr>
              <a:t>3.配送车辆基本信息参考： </a:t>
            </a:r>
            <a:endParaRPr lang="zh-CN" altLang="en-US"/>
          </a:p>
        </p:txBody>
      </p:sp>
      <p:graphicFrame>
        <p:nvGraphicFramePr>
          <p:cNvPr id="14" name="表格 13"/>
          <p:cNvGraphicFramePr/>
          <p:nvPr/>
        </p:nvGraphicFramePr>
        <p:xfrm>
          <a:off x="628968" y="5299075"/>
          <a:ext cx="480060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黑体" charset="0"/>
                          <a:cs typeface="黑体" charset="0"/>
                        </a:rPr>
                        <a:t>中文字段名</a:t>
                      </a:r>
                      <a:endParaRPr lang="en-US" altLang="en-US" sz="1000" b="1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黑体" charset="0"/>
                          <a:cs typeface="黑体" charset="0"/>
                        </a:rPr>
                        <a:t>类型及长度</a:t>
                      </a:r>
                      <a:endParaRPr lang="en-US" altLang="en-US" sz="1000" b="1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latin typeface="黑体" charset="0"/>
                          <a:cs typeface="黑体" charset="0"/>
                        </a:rPr>
                        <a:t>举例</a:t>
                      </a:r>
                      <a:endParaRPr lang="en-US" altLang="en-US" sz="1000" b="1">
                        <a:latin typeface="黑体" charset="0"/>
                        <a:ea typeface="黑体" charset="0"/>
                        <a:cs typeface="黑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车辆牌照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</a:t>
                      </a: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</a:t>
                      </a: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[8]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执行配送路线编号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</a:t>
                      </a:r>
                      <a:r>
                        <a:rPr lang="en-US" sz="1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</a:t>
                      </a: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[6]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司机姓名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char[8]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司机移动电话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char[11]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 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运货清单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struct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自行设计，至少需要有车辆在本站点载货/卸货的货物信息，特别是容量信息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135823" y="6150610"/>
            <a:ext cx="508000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 algn="l"/>
            <a:endParaRPr lang="en-US" sz="1050" b="0">
              <a:latin typeface="宋体" charset="0"/>
            </a:endParaRPr>
          </a:p>
          <a:p>
            <a:pPr marL="0" indent="0" algn="l"/>
            <a:r>
              <a:rPr lang="en-US" sz="1050" b="0">
                <a:latin typeface="宋体" charset="0"/>
              </a:rPr>
              <a:t> 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637530" y="690880"/>
            <a:ext cx="3626485" cy="5631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anchor="t">
            <a:spAutoFit/>
          </a:bodyPr>
          <a:lstStyle/>
          <a:p>
            <a:pPr marL="0" indent="0" algn="l"/>
            <a:r>
              <a:rPr lang="zh-CN" altLang="zh-CN" dirty="0">
                <a:solidFill>
                  <a:srgbClr val="FFFF00"/>
                </a:solidFill>
                <a:sym typeface="+mn-ea"/>
              </a:rPr>
              <a:t>【基本要求】</a:t>
            </a:r>
            <a:endParaRPr lang="zh-CN" altLang="zh-CN" dirty="0">
              <a:solidFill>
                <a:srgbClr val="FFFF00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以上述功能为基础，设计所需的数据结构（参考如右）、程序功能等，可以根据需要扩展所需功能</a:t>
            </a:r>
            <a:r>
              <a:rPr lang="zh-CN" altLang="en-US" dirty="0">
                <a:sym typeface="+mn-ea"/>
              </a:rPr>
              <a:t>。</a:t>
            </a:r>
            <a:endParaRPr lang="zh-CN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程序运行过程中，有方便合理的用户操作界面，能直观展示输入数据、处理过程及输出结果</a:t>
            </a:r>
            <a:r>
              <a:rPr lang="zh-CN" altLang="en-US" dirty="0">
                <a:sym typeface="+mn-ea"/>
              </a:rPr>
              <a:t>。</a:t>
            </a:r>
            <a:endParaRPr lang="zh-CN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各种数据可以存储在数据库或数据文件中，数据结构、具体数据项自定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629285" y="396875"/>
            <a:ext cx="50800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 algn="l"/>
            <a:r>
              <a:rPr lang="en-US" altLang="zh-CN" sz="1000" b="0">
                <a:solidFill>
                  <a:schemeClr val="tx1"/>
                </a:solidFill>
                <a:cs typeface="宋体" charset="0"/>
              </a:rPr>
              <a:t>1</a:t>
            </a:r>
            <a:r>
              <a:rPr lang="zh-CN" altLang="en-US" sz="1000" b="0">
                <a:solidFill>
                  <a:schemeClr val="tx1"/>
                </a:solidFill>
                <a:cs typeface="宋体" charset="0"/>
              </a:rPr>
              <a:t>，</a:t>
            </a:r>
            <a:r>
              <a:rPr lang="zh-CN" sz="1000" b="0">
                <a:solidFill>
                  <a:schemeClr val="tx1"/>
                </a:solidFill>
                <a:cs typeface="宋体" charset="0"/>
              </a:rPr>
              <a:t>配送路线基本信息参考</a:t>
            </a:r>
            <a:endParaRPr lang="zh-CN" altLang="en-US" sz="1000" b="0">
              <a:solidFill>
                <a:schemeClr val="tx1"/>
              </a:solidFill>
              <a:cs typeface="宋体" charset="0"/>
            </a:endParaRPr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611663" y="-171335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28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6</a:t>
            </a:r>
            <a:r>
              <a:rPr lang="zh-CN" altLang="en-US" sz="28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：物流配送管理信息系统 </a:t>
            </a:r>
          </a:p>
        </p:txBody>
      </p:sp>
    </p:spTree>
    <p:extLst>
      <p:ext uri="{BB962C8B-B14F-4D97-AF65-F5344CB8AC3E}">
        <p14:creationId xmlns:p14="http://schemas.microsoft.com/office/powerpoint/2010/main" val="384344116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28040" y="981075"/>
            <a:ext cx="8097520" cy="46958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just">
              <a:buClrTx/>
              <a:buSzTx/>
              <a:buFont typeface="+mj-lt"/>
              <a:buNone/>
            </a:pPr>
            <a:r>
              <a:rPr lang="zh-CN" altLang="zh-CN" dirty="0"/>
              <a:t>智能排课系统的目的是为减轻学院排课负担，在满足学生培养方案基础上，照顾多数老师的上课时间地点意愿。 管理员登录后设置课程内容，授课老师和课时。</a:t>
            </a:r>
            <a:r>
              <a:rPr lang="zh-CN" altLang="en-US" dirty="0">
                <a:sym typeface="+mn-ea"/>
              </a:rPr>
              <a:t>教师</a:t>
            </a:r>
            <a:r>
              <a:rPr lang="zh-CN" altLang="zh-CN" dirty="0"/>
              <a:t>登录后可以填写上课时间和上课地点等意愿 。系统将综合考虑所有</a:t>
            </a:r>
            <a:r>
              <a:rPr lang="zh-CN" altLang="en-US" dirty="0">
                <a:sym typeface="+mn-ea"/>
              </a:rPr>
              <a:t>教师</a:t>
            </a:r>
            <a:r>
              <a:rPr lang="zh-CN" altLang="zh-CN" dirty="0"/>
              <a:t>的意愿，给与管理员排课推荐，管理员根据实际情况对排课表进行修改最后分发排课表。该系统需满足以下要求：</a:t>
            </a:r>
          </a:p>
          <a:p>
            <a:pPr marL="457200" indent="-457200" algn="just">
              <a:buClrTx/>
              <a:buSzTx/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教师不冲突：同一位教师在同一时间只上一门课程；</a:t>
            </a:r>
          </a:p>
          <a:p>
            <a:pPr marL="457200" indent="-457200" algn="just">
              <a:buClrTx/>
              <a:buSzTx/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培养方案不冲突：同年级学生培养方案的所有课程不能在同一时间；</a:t>
            </a:r>
          </a:p>
          <a:p>
            <a:pPr marL="457200" indent="-457200" algn="just">
              <a:buClrTx/>
              <a:buSzTx/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教室不冲突：一个教室在同一时间只能上一门课；</a:t>
            </a:r>
          </a:p>
          <a:p>
            <a:pPr marL="457200" indent="-457200" algn="just">
              <a:buClrTx/>
              <a:buSzTx/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学时要求：每门课必须达到规定的学时（学分）要求，在不超过每周最高学时的基础上尽量保证连续授课。</a:t>
            </a:r>
          </a:p>
          <a:p>
            <a:pPr marL="457200" indent="-457200" algn="just">
              <a:buClrTx/>
              <a:buSzTx/>
              <a:buFont typeface="+mj-lt"/>
              <a:buAutoNum type="arabicPeriod"/>
            </a:pPr>
            <a:r>
              <a:rPr lang="zh-CN" altLang="en-US" dirty="0">
                <a:sym typeface="+mn-ea"/>
              </a:rPr>
              <a:t>人数要求：课程参加学习的总人数不应大于所安排教室的座位数。</a:t>
            </a:r>
          </a:p>
          <a:p>
            <a:pPr marL="0" indent="0" algn="just">
              <a:buClrTx/>
              <a:buSzTx/>
              <a:buFont typeface="+mj-lt"/>
              <a:buNone/>
            </a:pPr>
            <a:r>
              <a:rPr lang="zh-CN" altLang="zh-CN" dirty="0">
                <a:solidFill>
                  <a:srgbClr val="FFFF00"/>
                </a:solidFill>
                <a:sym typeface="+mn-ea"/>
              </a:rPr>
              <a:t>【基本要求】</a:t>
            </a:r>
            <a:endParaRPr lang="zh-CN" altLang="zh-CN" dirty="0">
              <a:solidFill>
                <a:srgbClr val="FFFF00"/>
              </a:solidFill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以上述功能为基础，设计所需的数据结构、程序功能等，可以根据需要扩展所需功能</a:t>
            </a:r>
            <a:r>
              <a:rPr lang="zh-CN" altLang="en-US" dirty="0">
                <a:sym typeface="+mn-ea"/>
              </a:rPr>
              <a:t>。</a:t>
            </a:r>
            <a:endParaRPr lang="zh-CN" altLang="zh-CN" dirty="0"/>
          </a:p>
          <a:p>
            <a:pPr marL="457200" lvl="0" indent="-457200" algn="just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程序运行过程中，有方便合理的用户操作界面，能直观展示输入数据、处理过程及输出结果</a:t>
            </a:r>
            <a:r>
              <a:rPr lang="zh-CN" altLang="en-US" dirty="0">
                <a:sym typeface="+mn-ea"/>
              </a:rPr>
              <a:t>。</a:t>
            </a:r>
            <a:endParaRPr lang="zh-CN" altLang="zh-CN" dirty="0"/>
          </a:p>
          <a:p>
            <a:pPr marL="457200" lvl="0" indent="-457200" algn="just">
              <a:buFont typeface="+mj-lt"/>
              <a:buAutoNum type="arabicPeriod"/>
            </a:pPr>
            <a:r>
              <a:rPr lang="zh-CN" altLang="zh-CN" dirty="0">
                <a:sym typeface="+mn-ea"/>
              </a:rPr>
              <a:t>各种数据可以存储在数据库或数据文件中，数据结构、具体数据项自定</a:t>
            </a:r>
            <a:r>
              <a:rPr lang="zh-CN" altLang="en-US" dirty="0">
                <a:sym typeface="+mn-ea"/>
              </a:rPr>
              <a:t>。</a:t>
            </a:r>
            <a:endParaRPr lang="zh-CN" altLang="zh-CN" dirty="0"/>
          </a:p>
          <a:p>
            <a:pPr algn="just"/>
            <a:endParaRPr lang="zh-CN" altLang="zh-CN" dirty="0">
              <a:solidFill>
                <a:srgbClr val="FFFF00"/>
              </a:solidFill>
            </a:endParaRPr>
          </a:p>
          <a:p>
            <a:pPr marL="0" indent="0" algn="just"/>
            <a:r>
              <a:rPr lang="en-US" altLang="zh-CN" dirty="0"/>
              <a:t>      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2490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107950" y="2348548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70859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899953" y="260465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7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：高校智能排课系统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54685" y="6657975"/>
            <a:ext cx="91440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39750" y="6657975"/>
            <a:ext cx="908050" cy="9144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none" anchor="ctr"/>
          <a:lstStyle/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1892646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611560" y="332656"/>
            <a:ext cx="8265319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6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8</a:t>
            </a:r>
            <a:r>
              <a:rPr lang="zh-CN" altLang="en-US" sz="36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：高铁票务管理系统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65944" y="1556792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r>
              <a:rPr lang="zh-CN" altLang="zh-CN" dirty="0"/>
              <a:t>模拟实现如下功能：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录入高铁班次信息（信息可以用文本保存），可不定期按照实际需求增加班次数据。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浏览高铁班次信息，显示出所有班次当前状态（如果当前系统时间超过了发车时间，提示班次已发出信息）。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查询路线：可以按照班次号、起点、钟点等查询。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售票和退票功能。</a:t>
            </a:r>
            <a:endParaRPr lang="zh-CN" altLang="zh-CN" dirty="0"/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班次</a:t>
            </a:r>
            <a:r>
              <a:rPr lang="zh-CN" altLang="zh-CN" dirty="0"/>
              <a:t>信息、订单信息、用户信息等数据，可以存储在数据库或数据文件中，数据结构、具体数据项自</a:t>
            </a:r>
            <a:r>
              <a:rPr lang="zh-CN" altLang="en-US" dirty="0"/>
              <a:t>高铁票务管理</a:t>
            </a:r>
            <a:r>
              <a:rPr lang="zh-CN" altLang="zh-CN" dirty="0"/>
              <a:t>系统模拟</a:t>
            </a:r>
            <a:r>
              <a:rPr lang="zh-CN" altLang="en-US" dirty="0"/>
              <a:t>。</a:t>
            </a:r>
            <a:endParaRPr lang="en-US" altLang="zh-CN" sz="6000" dirty="0"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6235677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683568" y="260648"/>
            <a:ext cx="7905279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6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9</a:t>
            </a:r>
            <a:r>
              <a:rPr lang="zh-CN" altLang="en-US" sz="36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：家庭财务小管家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65944" y="1556792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r>
              <a:rPr lang="zh-CN" altLang="en-US" dirty="0"/>
              <a:t>个人小管家应用系统给家庭提供了一个管理个人财务的平台，主要用于对家庭成员收入、支出进行添加、查询、删除以及打印的操作，使得家庭财务收支状态一目了然。</a:t>
            </a:r>
            <a:r>
              <a:rPr lang="zh-CN" altLang="zh-CN" dirty="0"/>
              <a:t>模拟实现如下功能：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主菜单：主要包括收入管理、支出管理和退出等。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添加、查询、删除、修改、打印收入记录。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添加、查询、删除、修改、打印支出记录。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退出系统。</a:t>
            </a:r>
            <a:endParaRPr lang="en-US" altLang="zh-CN" dirty="0"/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收入</a:t>
            </a:r>
            <a:r>
              <a:rPr lang="zh-CN" altLang="zh-CN" dirty="0"/>
              <a:t>信息、</a:t>
            </a:r>
            <a:r>
              <a:rPr lang="zh-CN" altLang="en-US" dirty="0"/>
              <a:t>支出</a:t>
            </a:r>
            <a:r>
              <a:rPr lang="zh-CN" altLang="zh-CN" dirty="0"/>
              <a:t>信息、用户信息等数据，可以存储在数据库或数据文件中，数据结构、具体数据项</a:t>
            </a:r>
            <a:r>
              <a:rPr lang="zh-CN" altLang="en-US" dirty="0"/>
              <a:t>按照家庭财务小管家</a:t>
            </a:r>
            <a:r>
              <a:rPr lang="zh-CN" altLang="zh-CN" dirty="0"/>
              <a:t>统模拟</a:t>
            </a:r>
            <a:r>
              <a:rPr lang="zh-CN" altLang="en-US" dirty="0"/>
              <a:t>。</a:t>
            </a:r>
            <a:endParaRPr lang="en-US" altLang="zh-CN" sz="6000" dirty="0"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5551644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-28839" y="332656"/>
            <a:ext cx="9252520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10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：健身房会员卡计费系统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3568" y="1058142"/>
            <a:ext cx="8208912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r>
              <a:rPr lang="zh-CN" altLang="zh-CN" dirty="0"/>
              <a:t>模拟实现如下功能：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新会员登记。（将会员个人信息及此会员的会员卡信息进行录入）。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会员信息修改。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会员续费。（会员出示会员卡后，管理人员进行续费，提示续费成功及更新后的信息）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会员消费结算。（结算本次费用，提示成功，并显示更新后的信息，可根据需要增加打折功能等）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会员退卡。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统计功能。</a:t>
            </a:r>
            <a:endParaRPr lang="zh-CN" altLang="zh-CN" dirty="0"/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  <a:endParaRPr lang="zh-CN" altLang="zh-CN" sz="16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消费</a:t>
            </a:r>
            <a:r>
              <a:rPr lang="zh-CN" altLang="zh-CN" dirty="0"/>
              <a:t>信息、</a:t>
            </a:r>
            <a:r>
              <a:rPr lang="zh-CN" altLang="en-US" dirty="0"/>
              <a:t>卡</a:t>
            </a:r>
            <a:r>
              <a:rPr lang="zh-CN" altLang="zh-CN" dirty="0"/>
              <a:t>信息、用户信息等数据，可以存储在数据库或数据文件中，数据结构、具体数据项</a:t>
            </a:r>
            <a:r>
              <a:rPr lang="zh-CN" altLang="en-US" dirty="0"/>
              <a:t>根据健身房会员卡计费</a:t>
            </a:r>
            <a:r>
              <a:rPr lang="zh-CN" altLang="zh-CN" dirty="0"/>
              <a:t>系统模拟</a:t>
            </a:r>
            <a:r>
              <a:rPr lang="zh-CN" altLang="en-US" dirty="0"/>
              <a:t>。</a:t>
            </a:r>
            <a:endParaRPr lang="en-US" altLang="zh-CN" sz="6000" dirty="0"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126485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9592" y="126841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r>
              <a:rPr lang="zh-CN" altLang="zh-CN" dirty="0"/>
              <a:t>模拟实现如下功能：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航班信息录入与修改：可以录入航班情况，修改航班数据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航班信息查询：可以查询某个航线的情况，例如：输入航班号后，查询起降时间、起飞到达城市、航班票价、票价折扣、确定航班是否满仓；可以输入起飞到达城市，查询开通的飞机航班情况等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订票操作： 可以订票，如果该航班已经无票，可以提供可替代航班选择，订票结果保存到订票信息中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退票操作： 可退票，退票后修改相关数据文件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订票信息录入与修改：可以记录和修改客户订票信息，包括姓名、证件号、预定航班号及机票数量等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  <a:endParaRPr lang="zh-CN" altLang="zh-CN" sz="16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航班信息、订单信息、用户信息等数据，可以存储在数据库或数据文件中，数据结构、具体数据项自定飞机订票系统模拟</a:t>
            </a:r>
            <a:r>
              <a:rPr lang="zh-CN" altLang="en-US" dirty="0"/>
              <a:t>。</a:t>
            </a:r>
            <a:endParaRPr lang="en-US" altLang="zh-CN" sz="6000" dirty="0">
              <a:latin typeface="+mn-lt"/>
              <a:ea typeface="+mj-ea"/>
            </a:endParaRP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467545" y="252210"/>
            <a:ext cx="7761262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6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11</a:t>
            </a:r>
            <a:r>
              <a:rPr lang="zh-CN" altLang="en-US" sz="36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：机票订票系统</a:t>
            </a:r>
          </a:p>
        </p:txBody>
      </p:sp>
    </p:spTree>
    <p:extLst>
      <p:ext uri="{BB962C8B-B14F-4D97-AF65-F5344CB8AC3E}">
        <p14:creationId xmlns:p14="http://schemas.microsoft.com/office/powerpoint/2010/main" val="213893968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9592" y="126841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0" indent="0"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endParaRPr lang="zh-CN" altLang="zh-CN" dirty="0"/>
          </a:p>
          <a:p>
            <a:pPr marL="0" indent="0" algn="l"/>
            <a:r>
              <a:rPr lang="zh-CN" altLang="zh-CN" dirty="0"/>
              <a:t>办理了会员卡的顾客，在消费时将金额转换为相应积分，不同的积分值消费时可以获得不同程度的折扣比例。设计实现以下功能：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会员开卡：新建会员卡，记录所属顾客的有关信息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消费积分：会员每次消费时，累计会员积分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消费折扣优惠：会员消费时，根据积分值等级获得折扣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查询：查询会员信息、消费积分、累计折扣金额等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会员退卡：删除会员卡记录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lvl="0" indent="0" algn="l"/>
            <a:endParaRPr lang="zh-CN" altLang="zh-CN" dirty="0"/>
          </a:p>
          <a:p>
            <a:pPr marL="0" lvl="0" indent="0"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  <a:endParaRPr lang="zh-CN" altLang="zh-CN" sz="28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sz="14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zh-CN" altLang="zh-CN" sz="1400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zh-CN" dirty="0"/>
              <a:t>数据可以存储在数据库或数据文件中，数据结构、具体数据项自定</a:t>
            </a:r>
            <a:r>
              <a:rPr lang="zh-CN" altLang="en-US" dirty="0"/>
              <a:t>。</a:t>
            </a:r>
            <a:endParaRPr lang="en-US" altLang="zh-CN" sz="6000" dirty="0">
              <a:latin typeface="+mn-lt"/>
              <a:ea typeface="+mj-ea"/>
            </a:endParaRP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12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：会员卡消费积分系统</a:t>
            </a:r>
          </a:p>
        </p:txBody>
      </p:sp>
    </p:spTree>
    <p:extLst>
      <p:ext uri="{BB962C8B-B14F-4D97-AF65-F5344CB8AC3E}">
        <p14:creationId xmlns:p14="http://schemas.microsoft.com/office/powerpoint/2010/main" val="297986096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9592" y="126841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0" indent="0"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endParaRPr lang="zh-CN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zh-CN" dirty="0"/>
              <a:t>计算机学院大楼地下</a:t>
            </a:r>
            <a:r>
              <a:rPr lang="en-US" altLang="zh-CN" dirty="0"/>
              <a:t>1</a:t>
            </a:r>
            <a:r>
              <a:rPr lang="zh-CN" altLang="zh-CN" dirty="0"/>
              <a:t>层，地上</a:t>
            </a:r>
            <a:r>
              <a:rPr lang="en-US" altLang="zh-CN" dirty="0"/>
              <a:t>8</a:t>
            </a:r>
            <a:r>
              <a:rPr lang="zh-CN" altLang="zh-CN" dirty="0"/>
              <a:t>层，装有两部电梯载人上下，每层楼电梯外的上下楼按钮信号两部电梯互通，上下楼请求信号发出后，根据一定的调度策略电梯停靠到相应楼层上下人。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zh-CN" dirty="0"/>
              <a:t>分析电梯运行情况，设计电梯调度运行策略，模拟实现电梯运行调度功能，使电梯快速准确地上下运行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endParaRPr lang="en-US" altLang="zh-CN" dirty="0"/>
          </a:p>
          <a:p>
            <a:pPr marL="0" indent="0" algn="l"/>
            <a:endParaRPr lang="zh-CN" altLang="zh-CN" dirty="0"/>
          </a:p>
          <a:p>
            <a:pPr marL="0" lvl="0" indent="0"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  <a:endParaRPr lang="zh-CN" altLang="zh-CN" sz="28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sz="14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程序运行过程中，有方便合理的用户操作模拟界面，能直观展示召唤电梯、电梯运行与停靠、上下楼目标楼层选择等动态运行情况</a:t>
            </a:r>
            <a:r>
              <a:rPr lang="zh-CN" altLang="en-US" dirty="0"/>
              <a:t>。</a:t>
            </a:r>
            <a:endParaRPr lang="zh-CN" altLang="zh-CN" sz="14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使用的数据结构、具体数据项自定</a:t>
            </a:r>
            <a:r>
              <a:rPr lang="zh-CN" altLang="en-US" dirty="0"/>
              <a:t>。</a:t>
            </a:r>
            <a:endParaRPr lang="zh-CN" altLang="zh-CN" sz="1400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13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：电梯运行调度模拟</a:t>
            </a:r>
          </a:p>
        </p:txBody>
      </p:sp>
    </p:spTree>
    <p:extLst>
      <p:ext uri="{BB962C8B-B14F-4D97-AF65-F5344CB8AC3E}">
        <p14:creationId xmlns:p14="http://schemas.microsoft.com/office/powerpoint/2010/main" val="18093556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9592" y="126841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0" indent="0"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r>
              <a:rPr lang="zh-CN" altLang="en-US" dirty="0">
                <a:solidFill>
                  <a:srgbClr val="FFFF00"/>
                </a:solidFill>
              </a:rPr>
              <a:t>用</a:t>
            </a:r>
            <a:r>
              <a:rPr lang="en-US" altLang="zh-CN" dirty="0">
                <a:solidFill>
                  <a:srgbClr val="FFFF00"/>
                </a:solidFill>
              </a:rPr>
              <a:t>C++</a:t>
            </a:r>
            <a:r>
              <a:rPr lang="zh-CN" altLang="en-US" dirty="0">
                <a:solidFill>
                  <a:srgbClr val="FFFF00"/>
                </a:solidFill>
              </a:rPr>
              <a:t>实现一个自己的解释型编程语言，该语言支持以下功能：</a:t>
            </a:r>
            <a:endParaRPr lang="zh-CN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支持基础的循环结构，分支结构，变量等。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支持函数，类，模块等高级属性。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具备全面的运算符，语法简洁。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数据类型至少支持整型、浮点型。字符串、哈希表、链表、数组等结构可以自行选择是否支持。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支持简单的程序解释和运行，提供简单的调试功能。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支持简单的内存垃圾回收。</a:t>
            </a:r>
            <a:endParaRPr lang="en-US" altLang="zh-CN" dirty="0"/>
          </a:p>
          <a:p>
            <a:pPr marL="0" indent="0" algn="l"/>
            <a:endParaRPr lang="en-US" altLang="zh-CN" dirty="0"/>
          </a:p>
          <a:p>
            <a:pPr marL="0" indent="0" algn="l"/>
            <a:endParaRPr lang="en-US" altLang="zh-CN" dirty="0"/>
          </a:p>
          <a:p>
            <a:pPr marL="0" lvl="0" indent="0"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  <a:endParaRPr lang="zh-CN" altLang="zh-CN" sz="28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设计所需的数据结构、程序功能等，可以根据需要扩展所需功能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设计所需的词法分析器、语法解释器等。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自行确定所需的垃圾回收机制和策略。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14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：自制解释型编程语言</a:t>
            </a:r>
          </a:p>
        </p:txBody>
      </p:sp>
    </p:spTree>
    <p:extLst>
      <p:ext uri="{BB962C8B-B14F-4D97-AF65-F5344CB8AC3E}">
        <p14:creationId xmlns:p14="http://schemas.microsoft.com/office/powerpoint/2010/main" val="62071264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9592" y="126841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0" indent="0"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r>
              <a:rPr lang="zh-CN" altLang="en-US" dirty="0">
                <a:solidFill>
                  <a:srgbClr val="FFFF00"/>
                </a:solidFill>
              </a:rPr>
              <a:t>用</a:t>
            </a:r>
            <a:r>
              <a:rPr lang="en-US" altLang="zh-CN" dirty="0">
                <a:solidFill>
                  <a:srgbClr val="FFFF00"/>
                </a:solidFill>
              </a:rPr>
              <a:t>C++</a:t>
            </a:r>
            <a:r>
              <a:rPr lang="zh-CN" altLang="en-US" dirty="0">
                <a:solidFill>
                  <a:srgbClr val="FFFF00"/>
                </a:solidFill>
              </a:rPr>
              <a:t>实现一个简单的计算器程序，该计算器支持以下功能：</a:t>
            </a:r>
            <a:endParaRPr lang="zh-CN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支持加、减、乘、除、乘方、求倒数等计算。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支持单目的正、负运算符。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支持三角函数运算。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支持圆括号。</a:t>
            </a:r>
            <a:endParaRPr lang="en-US" altLang="zh-CN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en-US" dirty="0"/>
              <a:t>支持包含多个运算符的表达式输入，支持运算符优先级别。</a:t>
            </a:r>
            <a:endParaRPr lang="en-US" altLang="zh-CN" dirty="0"/>
          </a:p>
          <a:p>
            <a:pPr marL="0" indent="0" algn="l"/>
            <a:endParaRPr lang="en-US" altLang="zh-CN" dirty="0"/>
          </a:p>
          <a:p>
            <a:pPr marL="0" indent="0" algn="l"/>
            <a:endParaRPr lang="en-US" altLang="zh-CN" dirty="0"/>
          </a:p>
          <a:p>
            <a:pPr marL="0" lvl="0" indent="0"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  <a:endParaRPr lang="zh-CN" altLang="zh-CN" sz="28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设计所需的数据结构、程序功能等，可以根据需要扩展所需功能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en-US" dirty="0"/>
              <a:t>设计可用的计算器界面，有合理的用户输入界面，简单易懂的结果展示。</a:t>
            </a:r>
            <a:endParaRPr lang="en-US" altLang="zh-CN" dirty="0"/>
          </a:p>
          <a:p>
            <a:pPr marL="0" lvl="0" indent="0" algn="l"/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15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：计算器</a:t>
            </a:r>
          </a:p>
        </p:txBody>
      </p:sp>
    </p:spTree>
    <p:extLst>
      <p:ext uri="{BB962C8B-B14F-4D97-AF65-F5344CB8AC3E}">
        <p14:creationId xmlns:p14="http://schemas.microsoft.com/office/powerpoint/2010/main" val="50389808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107504" y="977696"/>
            <a:ext cx="8928992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0" indent="0" algn="l"/>
            <a:r>
              <a:rPr lang="zh-CN" altLang="zh-CN" sz="1800" dirty="0">
                <a:solidFill>
                  <a:srgbClr val="FFFF00"/>
                </a:solidFill>
              </a:rPr>
              <a:t>【任务描述】</a:t>
            </a:r>
            <a:r>
              <a:rPr lang="zh-CN" altLang="zh-CN" sz="1800" dirty="0"/>
              <a:t>整理一批文本文件作为输入数据，实现以下处理功能：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词频统计：统计输入文件中的每个单词在所有文件中出现的总次数，保存统计结果</a:t>
            </a:r>
            <a:r>
              <a:rPr lang="zh-CN" altLang="en-US" sz="1800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建立单词索引：对所有单词记录每次出现时的信息，包括文件名、行号、所在的语句内容等</a:t>
            </a:r>
            <a:r>
              <a:rPr lang="zh-CN" altLang="en-US" sz="1800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查询词频：查询显示文件从出现频度最高的前</a:t>
            </a:r>
            <a:r>
              <a:rPr lang="en-US" altLang="zh-CN" sz="1800" dirty="0"/>
              <a:t>10</a:t>
            </a:r>
            <a:r>
              <a:rPr lang="zh-CN" altLang="zh-CN" sz="1800" dirty="0"/>
              <a:t>个单词；查询显示最热们的</a:t>
            </a:r>
            <a:r>
              <a:rPr lang="en-US" altLang="zh-CN" sz="1800" dirty="0"/>
              <a:t>10</a:t>
            </a:r>
            <a:r>
              <a:rPr lang="zh-CN" altLang="zh-CN" sz="1800" dirty="0"/>
              <a:t>个检索单词；输入一个单词，从统计结果中查询出该单词的在文件中出现总频次，查询出该单词被查询过的总次数</a:t>
            </a:r>
            <a:r>
              <a:rPr lang="zh-CN" altLang="en-US" sz="1800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关键词检索：输入一个单词，查询出所有该单词出现过的文件名、行号和所在语句内容</a:t>
            </a:r>
            <a:r>
              <a:rPr lang="zh-CN" altLang="en-US" sz="1800" dirty="0"/>
              <a:t>。</a:t>
            </a:r>
            <a:endParaRPr lang="zh-CN" altLang="zh-CN" sz="1600" dirty="0"/>
          </a:p>
          <a:p>
            <a:pPr algn="l"/>
            <a:r>
              <a:rPr lang="zh-CN" altLang="zh-CN" sz="1800" dirty="0">
                <a:solidFill>
                  <a:srgbClr val="FFFF00"/>
                </a:solidFill>
              </a:rPr>
              <a:t>【基本要求】</a:t>
            </a:r>
            <a:endParaRPr lang="zh-CN" altLang="zh-CN" sz="16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以上述功能为基础，设计所需的数据结构、程序功能模块等，可以根据需要扩展所需功能</a:t>
            </a:r>
            <a:r>
              <a:rPr lang="zh-CN" altLang="en-US" sz="1800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程序运行过程中，有方便合理的用户操作界面，能直观展示输入数据、处理过程及输出结果</a:t>
            </a:r>
            <a:r>
              <a:rPr lang="zh-CN" altLang="en-US" sz="1800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词频统计结果和索引数据，可以存储在数据文件或数据库中，数据结构、具体数据项自定</a:t>
            </a:r>
            <a:r>
              <a:rPr lang="zh-CN" altLang="en-US" sz="1800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输入文件内容为英文，不统计英文中出现的虚词，包括冠词、介词、连词和感叹词等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输入的文件允许单个输入，也允许批量文件输入</a:t>
            </a:r>
            <a:r>
              <a:rPr lang="zh-CN" altLang="en-US" sz="1800" dirty="0"/>
              <a:t>。</a:t>
            </a:r>
            <a:endParaRPr lang="zh-CN" altLang="zh-CN" sz="1600" dirty="0"/>
          </a:p>
          <a:p>
            <a:pPr algn="l"/>
            <a:r>
              <a:rPr lang="zh-CN" altLang="zh-CN" sz="1800" dirty="0">
                <a:solidFill>
                  <a:srgbClr val="FFFF00"/>
                </a:solidFill>
              </a:rPr>
              <a:t>【扩展要求】</a:t>
            </a:r>
            <a:endParaRPr lang="zh-CN" altLang="zh-CN" sz="1600" dirty="0">
              <a:solidFill>
                <a:srgbClr val="FFFF00"/>
              </a:solidFill>
            </a:endParaRPr>
          </a:p>
          <a:p>
            <a:pPr lvl="0" algn="l">
              <a:buFont typeface="+mj-lt"/>
              <a:buAutoNum type="arabicPeriod"/>
            </a:pPr>
            <a:r>
              <a:rPr lang="zh-CN" altLang="zh-CN" sz="1800" dirty="0"/>
              <a:t>输入文件内容扩展为中文，进行中文词语切分后，再做中文词频统计和检索</a:t>
            </a:r>
            <a:r>
              <a:rPr lang="zh-CN" altLang="en-US" sz="1800" dirty="0"/>
              <a:t>。</a:t>
            </a:r>
            <a:endParaRPr lang="zh-CN" altLang="zh-CN" sz="1200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16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：批量文本文件的词频统计和检索</a:t>
            </a:r>
          </a:p>
        </p:txBody>
      </p:sp>
    </p:spTree>
    <p:extLst>
      <p:ext uri="{BB962C8B-B14F-4D97-AF65-F5344CB8AC3E}">
        <p14:creationId xmlns:p14="http://schemas.microsoft.com/office/powerpoint/2010/main" val="149274024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9592" y="126841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0" indent="0"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r>
              <a:rPr lang="zh-CN" altLang="zh-CN" dirty="0"/>
              <a:t>有两个内容相似的文本文件，一个是未修改过的老版本，一个是修改过的新版本。要求实现以下功能：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比较两个文件内容的差异，新老文件每行前均显示行号，比较结果要求能区分并标记出插入、修改、删除和移动的数据行</a:t>
            </a:r>
            <a:r>
              <a:rPr lang="en-US" altLang="zh-CN" dirty="0"/>
              <a:t>; 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能够从一个文件中选择存在差异的数据行，合并到另一文件中，然后保存合并结果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0" lvl="0" indent="0"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  <a:endParaRPr lang="zh-CN" altLang="zh-CN" sz="16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设计所需的数据结构、程序功能模块等，可以根据需要扩展所需功能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程序运行过程中，有方便合理的用户操作界面，能直观展示两个文件的异同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所需数据可以存储在数据文件中，数据结构、具体数据项自定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【扩展要求】</a:t>
            </a:r>
            <a:endParaRPr lang="zh-CN" altLang="zh-CN" sz="16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对两个二进制文件进行比较，判断两个文件是否相同。</a:t>
            </a:r>
            <a:endParaRPr lang="zh-CN" altLang="zh-CN" sz="1600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zh-CN" dirty="0"/>
              <a:t>对两个文件夹内的多个文件或子文件夹进行比较，标记出存在差异的文件，可从一个文件中选择一个文件复制到另一个文件夹中</a:t>
            </a:r>
            <a:r>
              <a:rPr lang="zh-CN" altLang="en-US" dirty="0"/>
              <a:t>。</a:t>
            </a:r>
            <a:endParaRPr lang="zh-CN" altLang="zh-CN" sz="1400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17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：文件内容比较和合并</a:t>
            </a:r>
          </a:p>
        </p:txBody>
      </p:sp>
    </p:spTree>
    <p:extLst>
      <p:ext uri="{BB962C8B-B14F-4D97-AF65-F5344CB8AC3E}">
        <p14:creationId xmlns:p14="http://schemas.microsoft.com/office/powerpoint/2010/main" val="293475533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9592" y="126841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176213" lvl="1" indent="3175"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br>
              <a:rPr lang="en-US" altLang="zh-CN" dirty="0">
                <a:solidFill>
                  <a:srgbClr val="FFFF00"/>
                </a:solidFill>
              </a:rPr>
            </a:br>
            <a:r>
              <a:rPr lang="zh-CN" altLang="zh-CN" dirty="0"/>
              <a:t>以校园道路、建筑、景点为基础，建立模拟校园示意图，为来校游客提供景点介绍和导游。</a:t>
            </a:r>
            <a:br>
              <a:rPr lang="en-US" altLang="zh-CN" dirty="0"/>
            </a:br>
            <a:r>
              <a:rPr lang="zh-CN" altLang="zh-CN" dirty="0"/>
              <a:t>校园示意图中以节点代表校内的建筑或景点，节点数量不少于</a:t>
            </a:r>
            <a:r>
              <a:rPr lang="en-US" altLang="zh-CN" dirty="0"/>
              <a:t>10</a:t>
            </a:r>
            <a:r>
              <a:rPr lang="zh-CN" altLang="zh-CN" dirty="0"/>
              <a:t>个，每个节点存有对应的名称、代号、介绍内容等；以边代表校园道路，每条边存有对应的道路名称、起止地点、道路长度等相关信息。以此为基础，设计实现以下功能：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景点查询：游客输入图中任意一个景点，查询出该景点的介绍信息、该景点直接相邻的景点列表和距离；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线路查询：游客输入两个景点名称或代号，查询出两景点之间的最短路线</a:t>
            </a:r>
            <a:r>
              <a:rPr lang="zh-CN" altLang="en-US" dirty="0"/>
              <a:t>；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游览路线推荐：游客选择一个景点为起点，推荐一条可以游览最多景点的路线，要求推荐路线的距离最短</a:t>
            </a:r>
            <a:r>
              <a:rPr lang="zh-CN" altLang="en-US" dirty="0"/>
              <a:t>。</a:t>
            </a:r>
            <a:endParaRPr lang="zh-CN" altLang="zh-CN" sz="1400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18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：校园导游咨询</a:t>
            </a:r>
          </a:p>
        </p:txBody>
      </p:sp>
    </p:spTree>
    <p:extLst>
      <p:ext uri="{BB962C8B-B14F-4D97-AF65-F5344CB8AC3E}">
        <p14:creationId xmlns:p14="http://schemas.microsoft.com/office/powerpoint/2010/main" val="33226471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593725" y="1229905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176213" lvl="1" indent="3175" algn="l"/>
            <a:br>
              <a:rPr lang="en-US" altLang="zh-CN" dirty="0">
                <a:solidFill>
                  <a:srgbClr val="FFFF00"/>
                </a:solidFill>
              </a:rPr>
            </a:br>
            <a:endParaRPr lang="zh-CN" altLang="zh-CN" dirty="0"/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  <a:endParaRPr lang="zh-CN" altLang="zh-CN" sz="1600" dirty="0">
              <a:solidFill>
                <a:srgbClr val="FFFF00"/>
              </a:solidFill>
            </a:endParaRP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以上述功能为基础，设计所需的数据结构、程序功能模块等，可以根据需要扩展所需功能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zh-CN" altLang="zh-CN" sz="1600" dirty="0"/>
          </a:p>
          <a:p>
            <a:pPr marL="457200" indent="-457200" algn="l">
              <a:buFont typeface="+mj-lt"/>
              <a:buAutoNum type="arabicPeriod"/>
            </a:pPr>
            <a:r>
              <a:rPr lang="zh-CN" altLang="zh-CN" dirty="0"/>
              <a:t>所需数据可以存储在数据库或数据文件中，数据结构、具体数据项自定</a:t>
            </a:r>
            <a:r>
              <a:rPr lang="zh-CN" altLang="en-US" dirty="0"/>
              <a:t>。</a:t>
            </a:r>
            <a:endParaRPr lang="zh-CN" altLang="zh-CN" sz="1400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18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：校园导游咨询</a:t>
            </a:r>
          </a:p>
        </p:txBody>
      </p:sp>
    </p:spTree>
    <p:extLst>
      <p:ext uri="{BB962C8B-B14F-4D97-AF65-F5344CB8AC3E}">
        <p14:creationId xmlns:p14="http://schemas.microsoft.com/office/powerpoint/2010/main" val="131327979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9592" y="126841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0" indent="0" algn="l"/>
            <a:r>
              <a:rPr lang="zh-CN" altLang="zh-CN" dirty="0">
                <a:solidFill>
                  <a:srgbClr val="FFFF00"/>
                </a:solidFill>
              </a:rPr>
              <a:t>【任务描述】</a:t>
            </a:r>
            <a:endParaRPr lang="zh-CN" altLang="zh-CN" dirty="0"/>
          </a:p>
          <a:p>
            <a:pPr marL="0" indent="0" algn="l"/>
            <a:r>
              <a:rPr lang="en-US" altLang="zh-CN" dirty="0"/>
              <a:t>        </a:t>
            </a:r>
            <a:r>
              <a:rPr lang="zh-CN" altLang="zh-CN" dirty="0"/>
              <a:t>以校园道路、宿舍楼、教学楼为参考，建立模拟校园平面图，在图上通过计算选定一个新建超市的最佳选址地点，使各宿舍、教学楼到新超市的距离均最短，从而方便同学们购物。</a:t>
            </a:r>
          </a:p>
          <a:p>
            <a:pPr marL="0" indent="0" algn="l"/>
            <a:r>
              <a:rPr lang="en-US" altLang="zh-CN" dirty="0"/>
              <a:t>       </a:t>
            </a:r>
            <a:r>
              <a:rPr lang="zh-CN" altLang="zh-CN" dirty="0"/>
              <a:t>校园平面图中以节点代表校内的宿舍楼或教学楼，节点数量不少于</a:t>
            </a:r>
            <a:r>
              <a:rPr lang="en-US" altLang="zh-CN" dirty="0"/>
              <a:t>10</a:t>
            </a:r>
            <a:r>
              <a:rPr lang="zh-CN" altLang="zh-CN" dirty="0"/>
              <a:t>个，每个节点存有对应的位置坐标；以边代表校园道路，每条边存有对应的起止节点、道路长度等相关信息。</a:t>
            </a:r>
          </a:p>
          <a:p>
            <a:pPr algn="l"/>
            <a:r>
              <a:rPr lang="en-US" altLang="zh-CN" dirty="0"/>
              <a:t>       </a:t>
            </a:r>
            <a:r>
              <a:rPr lang="zh-CN" altLang="zh-CN" dirty="0"/>
              <a:t>新超市的位置要求位于已有节点或边上，可以不用新修道路。</a:t>
            </a:r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根据上述任务描述，实现以下功能：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图中节点固定时，计算并显示一个新超市的选址位置，并显示各点到它的距离之和；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用户增加或减少图中节点时，计算并显示一个新超市的选址位置，并显示各点到它的距离之和；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假如新建两个超市，都选择去较近的超市购物，计算并显示这两个超市的选址位置。，并显示各点到最近超市的距离之和；</a:t>
            </a: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19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：校园超市选址</a:t>
            </a:r>
          </a:p>
        </p:txBody>
      </p:sp>
    </p:spTree>
    <p:extLst>
      <p:ext uri="{BB962C8B-B14F-4D97-AF65-F5344CB8AC3E}">
        <p14:creationId xmlns:p14="http://schemas.microsoft.com/office/powerpoint/2010/main" val="83903369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9592" y="126841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设计所需的数据结构、程序功能模块等，可以根据需要扩展所需功能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所需数据可以存储在数据库或数据文件中，数据结构、具体数据项自定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0" indent="-457200" algn="l">
              <a:buFont typeface="+mj-lt"/>
              <a:buAutoNum type="arabicPeriod"/>
            </a:pPr>
            <a:endParaRPr lang="en-US" altLang="zh-CN" dirty="0"/>
          </a:p>
          <a:p>
            <a:pPr marL="0" lvl="0" indent="0" algn="l"/>
            <a:endParaRPr lang="zh-CN" altLang="zh-CN" dirty="0"/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【扩展要求】</a:t>
            </a:r>
          </a:p>
          <a:p>
            <a:pPr lvl="0" algn="l"/>
            <a:r>
              <a:rPr lang="zh-CN" altLang="zh-CN" dirty="0"/>
              <a:t>如果新超市不在已有节点或边上，允许新建一条道路，重新计算超市的选址位置</a:t>
            </a: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19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：校园超市选址</a:t>
            </a:r>
          </a:p>
        </p:txBody>
      </p:sp>
    </p:spTree>
    <p:extLst>
      <p:ext uri="{BB962C8B-B14F-4D97-AF65-F5344CB8AC3E}">
        <p14:creationId xmlns:p14="http://schemas.microsoft.com/office/powerpoint/2010/main" val="5106706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3032" y="110966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en-US" altLang="zh-CN" dirty="0"/>
              <a:t>          </a:t>
            </a:r>
            <a:r>
              <a:rPr lang="zh-CN" altLang="zh-CN" dirty="0"/>
              <a:t>参加校运动会有</a:t>
            </a:r>
            <a:r>
              <a:rPr lang="en-US" altLang="zh-CN" dirty="0"/>
              <a:t>S</a:t>
            </a:r>
            <a:r>
              <a:rPr lang="zh-CN" altLang="zh-CN" dirty="0"/>
              <a:t>个学院，比赛中设置了</a:t>
            </a:r>
            <a:r>
              <a:rPr lang="en-US" altLang="zh-CN" dirty="0"/>
              <a:t>M</a:t>
            </a:r>
            <a:r>
              <a:rPr lang="zh-CN" altLang="zh-CN" dirty="0"/>
              <a:t>个男子项目和</a:t>
            </a:r>
            <a:r>
              <a:rPr lang="en-US" altLang="zh-CN" dirty="0"/>
              <a:t>W</a:t>
            </a:r>
            <a:r>
              <a:rPr lang="zh-CN" altLang="zh-CN" dirty="0"/>
              <a:t>个女子项目。每个项目的成绩取前五名计入积分；前五名的积分值分别为：</a:t>
            </a:r>
            <a:r>
              <a:rPr lang="en-US" altLang="zh-CN" dirty="0"/>
              <a:t>7</a:t>
            </a:r>
            <a:r>
              <a:rPr lang="zh-CN" altLang="zh-CN" dirty="0"/>
              <a:t>、</a:t>
            </a:r>
            <a:r>
              <a:rPr lang="en-US" altLang="zh-CN" dirty="0"/>
              <a:t>5</a:t>
            </a:r>
            <a:r>
              <a:rPr lang="zh-CN" altLang="zh-CN" dirty="0"/>
              <a:t>、</a:t>
            </a:r>
            <a:r>
              <a:rPr lang="en-US" altLang="zh-CN" dirty="0"/>
              <a:t>3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en-US" altLang="zh-CN" dirty="0"/>
              <a:t>1</a:t>
            </a:r>
            <a:r>
              <a:rPr lang="zh-CN" altLang="zh-CN" dirty="0"/>
              <a:t>。设计实现以下功能：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成绩输入：可以输入各个项目的成绩，然后设置各项目前</a:t>
            </a:r>
            <a:r>
              <a:rPr lang="en-US" altLang="zh-CN" dirty="0"/>
              <a:t>5</a:t>
            </a:r>
            <a:r>
              <a:rPr lang="zh-CN" altLang="zh-CN" dirty="0"/>
              <a:t>名所获积分；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积分统计：统计各学院所获总分、男子团体总分、女子团体总分，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排序输出：按学院编号或名称、学院总分、男子总分、女子总分等不同形式分别排序输出；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查询： 按学院编号查询参加某个项目的情况；、按项目编号查询取得前五名的学院。</a:t>
            </a:r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以上述功能为基础，设计所需的数据结构、程序功能等，可以根据需要扩展所需功能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程序运行过程中，有方便合理的用户操作界面，能直观展示输入数据、处理过程及输出结果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各种数据可以存储在数据库或数据文件中，数据结构、具体数据项自定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20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：校运动会分数统计</a:t>
            </a:r>
          </a:p>
        </p:txBody>
      </p:sp>
    </p:spTree>
    <p:extLst>
      <p:ext uri="{BB962C8B-B14F-4D97-AF65-F5344CB8AC3E}">
        <p14:creationId xmlns:p14="http://schemas.microsoft.com/office/powerpoint/2010/main" val="351327533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3032" y="110966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sz="1800" dirty="0">
                <a:solidFill>
                  <a:srgbClr val="FFFF00"/>
                </a:solidFill>
              </a:rPr>
              <a:t>【</a:t>
            </a:r>
            <a:r>
              <a:rPr lang="zh-CN" altLang="en-US" sz="1800" dirty="0">
                <a:solidFill>
                  <a:srgbClr val="FFFF00"/>
                </a:solidFill>
              </a:rPr>
              <a:t>任务描述</a:t>
            </a:r>
            <a:r>
              <a:rPr lang="zh-CN" altLang="zh-CN" sz="1800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en-US" altLang="zh-CN" sz="1800" dirty="0"/>
              <a:t>       </a:t>
            </a:r>
            <a:r>
              <a:rPr lang="zh-CN" altLang="zh-CN" sz="1800" dirty="0"/>
              <a:t>有一个两层的停车场，每层有</a:t>
            </a:r>
            <a:r>
              <a:rPr lang="en-US" altLang="zh-CN" sz="1800" dirty="0"/>
              <a:t>16</a:t>
            </a:r>
            <a:r>
              <a:rPr lang="zh-CN" altLang="zh-CN" sz="1800" dirty="0"/>
              <a:t>个车位，当第一层车停满后才允许进入第二层。每辆车的停车信息包括车牌号、层号、车位号和停车时间等。设计实现以下功能：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停车操作：当一辆车进入停车场时，先查询车位的使用情况，如果第一层有空则必须停在第一层</a:t>
            </a:r>
            <a:r>
              <a:rPr lang="en-US" altLang="zh-CN" sz="1800" dirty="0"/>
              <a:t>,</a:t>
            </a:r>
            <a:r>
              <a:rPr lang="zh-CN" altLang="zh-CN" sz="1800" dirty="0"/>
              <a:t>在有空车位时，记录车牌号、所分配的层号和位号、停车起始时间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取车收费：当有车离开时，输入其车牌号，查询停车时间后计算停车费，费用标准为每</a:t>
            </a:r>
            <a:r>
              <a:rPr lang="en-US" altLang="zh-CN" sz="1800" dirty="0"/>
              <a:t>10</a:t>
            </a:r>
            <a:r>
              <a:rPr lang="zh-CN" altLang="zh-CN" sz="1800" dirty="0"/>
              <a:t>分钟</a:t>
            </a:r>
            <a:r>
              <a:rPr lang="en-US" altLang="zh-CN" sz="1800" dirty="0"/>
              <a:t>0.5</a:t>
            </a:r>
            <a:r>
              <a:rPr lang="zh-CN" altLang="zh-CN" sz="1800" dirty="0"/>
              <a:t>元。原来所用车位状态恢复为</a:t>
            </a:r>
            <a:r>
              <a:rPr lang="en-US" altLang="zh-CN" sz="1800" dirty="0"/>
              <a:t>“</a:t>
            </a:r>
            <a:r>
              <a:rPr lang="zh-CN" altLang="zh-CN" sz="1800" dirty="0"/>
              <a:t>可用</a:t>
            </a:r>
            <a:r>
              <a:rPr lang="en-US" altLang="zh-CN" sz="1800" dirty="0"/>
              <a:t>”</a:t>
            </a:r>
            <a:endParaRPr lang="zh-CN" altLang="zh-CN" sz="18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查询：查询停车场所有可用空车位、查询某辆车停放的车位、查询停车场中所有车辆的停车信息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统计：统计停车场每天停车的总数，统计每天收的停车费总数，按天、按周、按月显示统计结果</a:t>
            </a:r>
          </a:p>
          <a:p>
            <a:pPr algn="l"/>
            <a:r>
              <a:rPr lang="zh-CN" altLang="zh-CN" sz="1800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设计所需的数据结构、程序功能模块等，可以根据需要扩展所需功能</a:t>
            </a:r>
            <a:r>
              <a:rPr lang="zh-CN" altLang="en-US" sz="1800" dirty="0"/>
              <a:t>。</a:t>
            </a:r>
            <a:endParaRPr lang="zh-CN" altLang="zh-CN" sz="18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程序运行过程中，有方便合理的用户操作界面，能直观展示输入数据、处理过程及输出结果</a:t>
            </a:r>
            <a:r>
              <a:rPr lang="zh-CN" altLang="en-US" sz="1800" dirty="0"/>
              <a:t>。</a:t>
            </a:r>
            <a:endParaRPr lang="zh-CN" altLang="zh-CN" sz="18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所需数据可以存储在数据库或数据文件中，数据结构、具体数据项自定</a:t>
            </a:r>
            <a:r>
              <a:rPr lang="zh-CN" altLang="en-US" sz="1800" dirty="0"/>
              <a:t>。</a:t>
            </a:r>
            <a:endParaRPr lang="zh-CN" altLang="zh-CN" sz="1800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21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：校运动会分数统计</a:t>
            </a:r>
          </a:p>
        </p:txBody>
      </p:sp>
    </p:spTree>
    <p:extLst>
      <p:ext uri="{BB962C8B-B14F-4D97-AF65-F5344CB8AC3E}">
        <p14:creationId xmlns:p14="http://schemas.microsoft.com/office/powerpoint/2010/main" val="13383429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3032" y="110966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en-US" altLang="zh-CN" dirty="0"/>
              <a:t>        </a:t>
            </a:r>
            <a:r>
              <a:rPr lang="zh-CN" altLang="zh-CN" dirty="0"/>
              <a:t>在</a:t>
            </a:r>
            <a:r>
              <a:rPr lang="en-US" altLang="zh-CN" dirty="0"/>
              <a:t>8×8</a:t>
            </a:r>
            <a:r>
              <a:rPr lang="zh-CN" altLang="zh-CN" dirty="0"/>
              <a:t>的国际象棋棋盘上，如果在某些位置放置若干个马之后，使整个棋盘中任意空位置上所放置的棋子均能被这些马吃掉，则把这组放置的棋子称为一个满覆盖。若去掉满覆盖中的任意一个棋子都破环了满覆盖，则称这一覆盖为最小满覆盖。设计程序完成以下要求：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求解一个最小满覆盖</a:t>
            </a:r>
            <a:r>
              <a:rPr lang="zh-CN" altLang="en-US" dirty="0"/>
              <a:t>；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以直观的界面形式演示寻找以最小满覆盖的过程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lvl="0" indent="0" algn="l"/>
            <a:endParaRPr lang="zh-CN" altLang="zh-CN" dirty="0"/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设计所需的数据结构、程序功能模块等，可以根据需要扩展所需功能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所需的数据结构、具体数据项自定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lvl="0" indent="0" algn="l"/>
            <a:endParaRPr lang="zh-CN" altLang="zh-CN" dirty="0">
              <a:solidFill>
                <a:srgbClr val="FFFF00"/>
              </a:solidFill>
            </a:endParaRPr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【扩展要求】</a:t>
            </a:r>
          </a:p>
          <a:p>
            <a:pPr marL="457200" indent="-457200" algn="l">
              <a:buFont typeface="+mj-lt"/>
              <a:buAutoNum type="arabicPeriod"/>
            </a:pPr>
            <a:r>
              <a:rPr lang="zh-CN" altLang="zh-CN" dirty="0"/>
              <a:t>在更大规模的棋盘上寻找一组最小满覆盖</a:t>
            </a:r>
          </a:p>
          <a:p>
            <a:pPr algn="l"/>
            <a:r>
              <a:rPr lang="en-US" altLang="zh-CN" dirty="0"/>
              <a:t> 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22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：校运动会分数统计</a:t>
            </a:r>
          </a:p>
        </p:txBody>
      </p:sp>
    </p:spTree>
    <p:extLst>
      <p:ext uri="{BB962C8B-B14F-4D97-AF65-F5344CB8AC3E}">
        <p14:creationId xmlns:p14="http://schemas.microsoft.com/office/powerpoint/2010/main" val="87608632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251520" y="1109663"/>
            <a:ext cx="8598062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zh-CN" altLang="en-US" dirty="0"/>
              <a:t>图书馆中的资料很多，如果能分类对其资料流通进行管理，将会带来很多方便，因此需要有一个媒体库管理系统。图书馆共有三大类物品资料：图书、视频光盘、图画。 这三类物品共同具有的属性有：编号、标题、作者、评级（未评级，一般，成人，儿童</a:t>
            </a:r>
            <a:r>
              <a:rPr lang="en-US" altLang="zh-CN" dirty="0"/>
              <a:t>)</a:t>
            </a:r>
            <a:r>
              <a:rPr lang="zh-CN" altLang="en-US" dirty="0"/>
              <a:t>等。其中图书类增加出版社、</a:t>
            </a:r>
            <a:r>
              <a:rPr lang="en-US" altLang="zh-CN" dirty="0"/>
              <a:t>ISBN</a:t>
            </a:r>
            <a:r>
              <a:rPr lang="zh-CN" altLang="en-US" dirty="0"/>
              <a:t>号、页数等信息；视频光盘类增加出品者的名字、出品年份和视频时长等信息；图画类增加出品国籍、作品的长和宽（以厘米计，整数）等信息。功能要求：</a:t>
            </a:r>
          </a:p>
          <a:p>
            <a:pPr marL="0" indent="0" algn="l"/>
            <a:r>
              <a:rPr lang="zh-CN" altLang="en-US" dirty="0"/>
              <a:t> （</a:t>
            </a:r>
            <a:r>
              <a:rPr lang="en-US" altLang="zh-CN" dirty="0"/>
              <a:t>1</a:t>
            </a:r>
            <a:r>
              <a:rPr lang="zh-CN" altLang="en-US" dirty="0"/>
              <a:t>）添加物品：主要完成图书馆三类物品信息的添加，要求编号唯一。当添加了重复的编号时，则提示数据添加重复并取消添加；当物品库已满，则提示不能再添加新的数据。</a:t>
            </a:r>
          </a:p>
          <a:p>
            <a:pPr marL="0" indent="0" algn="l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查询物品：可按照三种方式来查询物品，分别为：按标题查询：输入标题，输出所查询的信息，若不存在该记录，则提示“该标题不存在！”；按编号查询：输入编号，输出所查询的信息，若不存在该记录，则提示“该编号存在！”；按类别查询：输入类别，输出所查询的信息，若不存在记录，则提示“该类别没有物品！”； </a:t>
            </a:r>
          </a:p>
          <a:p>
            <a:pPr marL="0" indent="0" algn="l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）显示物品库：输出当前物品库中所有物品信息，每条记录占据一行。</a:t>
            </a:r>
            <a:endParaRPr lang="zh-CN" altLang="zh-CN" dirty="0">
              <a:solidFill>
                <a:srgbClr val="FFFF00"/>
              </a:solidFill>
            </a:endParaRPr>
          </a:p>
          <a:p>
            <a:pPr algn="l"/>
            <a:r>
              <a:rPr lang="en-US" altLang="zh-CN" dirty="0"/>
              <a:t> 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23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：媒体库管理系统设计</a:t>
            </a:r>
          </a:p>
        </p:txBody>
      </p:sp>
    </p:spTree>
    <p:extLst>
      <p:ext uri="{BB962C8B-B14F-4D97-AF65-F5344CB8AC3E}">
        <p14:creationId xmlns:p14="http://schemas.microsoft.com/office/powerpoint/2010/main" val="363603053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251520" y="1109663"/>
            <a:ext cx="8598062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任务描述</a:t>
            </a:r>
            <a:r>
              <a:rPr lang="zh-CN" altLang="zh-CN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删除物品：主要完成图书馆物品信息的删除。如果当前物品库为空，则提示“物品库为空！”，并返回操作；否则，输入要删除的编号，根据编号删除该物品的记录，如果该编号不在物品库中，则提示“该编号不存在”。</a:t>
            </a:r>
          </a:p>
          <a:p>
            <a:pPr marL="0" indent="0" algn="l"/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）统计信息输出当前物品库中总物品数，以及按物品类别，统计出当前物品中各类别的物品数并显示。 </a:t>
            </a:r>
          </a:p>
          <a:p>
            <a:pPr marL="0" indent="0" algn="l"/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）物品存盘：将当前程序中的物品信息存入文件中。</a:t>
            </a:r>
          </a:p>
          <a:p>
            <a:pPr marL="0" indent="0" algn="l"/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）读出物品：从文件中将物品信息读入程序。</a:t>
            </a:r>
          </a:p>
          <a:p>
            <a:pPr marL="0" lvl="0" indent="0" algn="l"/>
            <a:endParaRPr lang="zh-CN" altLang="zh-CN" dirty="0"/>
          </a:p>
          <a:p>
            <a:pPr algn="l"/>
            <a:r>
              <a:rPr lang="zh-CN" altLang="zh-CN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设计所需的数据结构、程序功能模块等，可以根据需要扩展所需功能</a:t>
            </a:r>
            <a:r>
              <a:rPr lang="zh-CN" altLang="en-US" dirty="0"/>
              <a:t>。</a:t>
            </a:r>
            <a:endParaRPr lang="zh-CN" altLang="zh-CN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dirty="0"/>
              <a:t>所需的数据结构、具体数据项自定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lvl="0" indent="0" algn="l"/>
            <a:endParaRPr lang="zh-CN" altLang="zh-CN" dirty="0">
              <a:solidFill>
                <a:srgbClr val="FFFF00"/>
              </a:solidFill>
            </a:endParaRPr>
          </a:p>
          <a:p>
            <a:pPr algn="l"/>
            <a:r>
              <a:rPr lang="en-US" altLang="zh-CN" dirty="0"/>
              <a:t> </a:t>
            </a:r>
            <a:endParaRPr lang="zh-CN" altLang="zh-CN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2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3</a:t>
            </a:r>
            <a:r>
              <a:rPr lang="zh-CN" altLang="en-US" sz="32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媒体库管理系统设计</a:t>
            </a:r>
          </a:p>
        </p:txBody>
      </p:sp>
    </p:spTree>
    <p:extLst>
      <p:ext uri="{BB962C8B-B14F-4D97-AF65-F5344CB8AC3E}">
        <p14:creationId xmlns:p14="http://schemas.microsoft.com/office/powerpoint/2010/main" val="38853134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216024" y="548686"/>
            <a:ext cx="8820472" cy="42011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sz="1800" dirty="0">
                <a:solidFill>
                  <a:srgbClr val="FFFF00"/>
                </a:solidFill>
              </a:rPr>
              <a:t>【</a:t>
            </a:r>
            <a:r>
              <a:rPr lang="zh-CN" altLang="en-US" sz="1800" dirty="0">
                <a:solidFill>
                  <a:srgbClr val="FFFF00"/>
                </a:solidFill>
              </a:rPr>
              <a:t>任务描述</a:t>
            </a:r>
            <a:r>
              <a:rPr lang="zh-CN" altLang="zh-CN" sz="1800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zh-CN" altLang="en-US" sz="1800" dirty="0"/>
              <a:t>课程设计题目包括：编号、名称、关键词、实现技术、人员数（由几个人来完成）等信息。  学生信息包括：学号、姓名、性别、年龄、班级、专业等信息。  功能要求  ：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1</a:t>
            </a:r>
            <a:r>
              <a:rPr lang="zh-CN" altLang="en-US" sz="1800" dirty="0"/>
              <a:t>）添加功能：程序能够添加学生的记录和课程设计题目记录，提供选择界面供用户选择所要添加的类别。添加记录时，要求学号和编号要唯一。如果添加了重复记录，则提示数据添加重复并取消添加。 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2</a:t>
            </a:r>
            <a:r>
              <a:rPr lang="zh-CN" altLang="en-US" sz="1800" dirty="0"/>
              <a:t>）查询功能：可根据学号、姓名、编号、名称等信息对已添加的学生和课程设计题目进行查询，如果未找到，给出相应的提示信息，如果找到，则显示相应的记录信息。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3</a:t>
            </a:r>
            <a:r>
              <a:rPr lang="zh-CN" altLang="en-US" sz="1800" dirty="0"/>
              <a:t>）显示功能：可显示当前学生的信息和课程设计题目信息，每条记录占据一行。 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4</a:t>
            </a:r>
            <a:r>
              <a:rPr lang="zh-CN" altLang="en-US" sz="1800" dirty="0"/>
              <a:t>）编辑功能：可根据查询结果对相应的记录进行修改，修改时注意学号的唯一性。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5</a:t>
            </a:r>
            <a:r>
              <a:rPr lang="zh-CN" altLang="en-US" sz="1800" dirty="0"/>
              <a:t>）删除功能：主要实现对已添加的学生和课程设计题目记录进行删除。如果当前系统中没有相应的记录，则提示“记录为空！”并返回操作。 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6</a:t>
            </a:r>
            <a:r>
              <a:rPr lang="zh-CN" altLang="en-US" sz="1800" dirty="0"/>
              <a:t>）统计功能：能根据多种参数进行统计。能按课程设计题目名称统计出学生选择该题目的人员的信息。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7</a:t>
            </a:r>
            <a:r>
              <a:rPr lang="zh-CN" altLang="en-US" sz="1800" dirty="0"/>
              <a:t>）保存功能：可将当前系统中各类记录存入文件中，存入方式任意。 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8</a:t>
            </a:r>
            <a:r>
              <a:rPr lang="zh-CN" altLang="en-US" sz="1800" dirty="0"/>
              <a:t>）读取功能：可将保存在文件中的信息读入到当前系统中，供用户进行使用。</a:t>
            </a:r>
            <a:endParaRPr lang="en-US" altLang="zh-CN" sz="1800" dirty="0"/>
          </a:p>
          <a:p>
            <a:pPr marL="0" indent="0" algn="l"/>
            <a:r>
              <a:rPr lang="zh-CN" altLang="en-US" sz="1800" dirty="0"/>
              <a:t> </a:t>
            </a:r>
            <a:r>
              <a:rPr lang="zh-CN" altLang="zh-CN" sz="1800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设计所需的数据结构、程序功能模块等，可以根据需要扩展所需功能</a:t>
            </a:r>
            <a:r>
              <a:rPr lang="zh-CN" altLang="en-US" sz="1800" dirty="0"/>
              <a:t>。</a:t>
            </a:r>
            <a:endParaRPr lang="zh-CN" altLang="zh-CN" sz="18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程序运行过程中，有方便合理的用户操作界面，能直观展示输入数据、处理过程及输出结果</a:t>
            </a:r>
            <a:r>
              <a:rPr lang="zh-CN" altLang="en-US" sz="1800" dirty="0"/>
              <a:t>。</a:t>
            </a:r>
            <a:endParaRPr lang="zh-CN" altLang="zh-CN" sz="18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所需数据可以存储在数据库或数据文件中，数据结构、具体数据项自定</a:t>
            </a:r>
            <a:r>
              <a:rPr lang="zh-CN" altLang="en-US" sz="1800" dirty="0"/>
              <a:t>。</a:t>
            </a:r>
            <a:endParaRPr lang="zh-CN" altLang="zh-CN" sz="1800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323529" y="-74233"/>
            <a:ext cx="8712968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24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：课程设计选题管理系统</a:t>
            </a:r>
          </a:p>
        </p:txBody>
      </p:sp>
    </p:spTree>
    <p:extLst>
      <p:ext uri="{BB962C8B-B14F-4D97-AF65-F5344CB8AC3E}">
        <p14:creationId xmlns:p14="http://schemas.microsoft.com/office/powerpoint/2010/main" val="391278953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893032" y="1109663"/>
            <a:ext cx="7956550" cy="38396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638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/>
            <a:r>
              <a:rPr lang="zh-CN" altLang="zh-CN" sz="1800" dirty="0">
                <a:solidFill>
                  <a:srgbClr val="FFFF00"/>
                </a:solidFill>
              </a:rPr>
              <a:t>【</a:t>
            </a:r>
            <a:r>
              <a:rPr lang="zh-CN" altLang="en-US" sz="1800" dirty="0">
                <a:solidFill>
                  <a:srgbClr val="FFFF00"/>
                </a:solidFill>
              </a:rPr>
              <a:t>任务描述</a:t>
            </a:r>
            <a:r>
              <a:rPr lang="zh-CN" altLang="zh-CN" sz="1800" dirty="0">
                <a:solidFill>
                  <a:srgbClr val="FFFF00"/>
                </a:solidFill>
              </a:rPr>
              <a:t>】</a:t>
            </a:r>
          </a:p>
          <a:p>
            <a:pPr marL="0" indent="0" algn="l"/>
            <a:r>
              <a:rPr lang="zh-CN" altLang="en-US" sz="1800" dirty="0"/>
              <a:t>完成小型诊所的简单信息管理程序，掌握类的设计以及继承和派生的应用。  功能要求：</a:t>
            </a:r>
          </a:p>
          <a:p>
            <a:pPr marL="0" indent="0" algn="l"/>
            <a:r>
              <a:rPr lang="zh-CN" altLang="en-US" sz="1800" dirty="0"/>
              <a:t>设计人类（</a:t>
            </a:r>
            <a:r>
              <a:rPr lang="en-US" altLang="zh-CN" sz="1800" dirty="0"/>
              <a:t>Person</a:t>
            </a:r>
            <a:r>
              <a:rPr lang="zh-CN" altLang="en-US" sz="1800" dirty="0"/>
              <a:t>类）和医生类（</a:t>
            </a:r>
            <a:r>
              <a:rPr lang="en-US" altLang="zh-CN" sz="1800" dirty="0"/>
              <a:t>Doctor</a:t>
            </a:r>
            <a:r>
              <a:rPr lang="zh-CN" altLang="en-US" sz="1800" dirty="0"/>
              <a:t>类），在此基础上，通过增加患者和账单，使它们公用于表示一家诊所的信息管理。 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1</a:t>
            </a:r>
            <a:r>
              <a:rPr lang="zh-CN" altLang="en-US" sz="1800" dirty="0"/>
              <a:t>）在一条医生记录中，包括医生的专业说明（</a:t>
            </a:r>
            <a:r>
              <a:rPr lang="en-US" altLang="zh-CN" sz="1800" dirty="0"/>
              <a:t>specialty</a:t>
            </a:r>
            <a:r>
              <a:rPr lang="zh-CN" altLang="en-US" sz="1800" dirty="0"/>
              <a:t>），如内科医生（</a:t>
            </a:r>
            <a:r>
              <a:rPr lang="en-US" altLang="zh-CN" sz="1800" dirty="0"/>
              <a:t>surgeon</a:t>
            </a:r>
            <a:r>
              <a:rPr lang="zh-CN" altLang="en-US" sz="1800" dirty="0"/>
              <a:t>）、儿科医生（</a:t>
            </a:r>
            <a:r>
              <a:rPr lang="en-US" altLang="zh-CN" sz="1800" dirty="0"/>
              <a:t>pediatrician</a:t>
            </a:r>
            <a:r>
              <a:rPr lang="zh-CN" altLang="en-US" sz="1800" dirty="0"/>
              <a:t>） 、产科医生（</a:t>
            </a:r>
            <a:r>
              <a:rPr lang="en-US" altLang="zh-CN" sz="1800" dirty="0"/>
              <a:t>obstetrician</a:t>
            </a:r>
            <a:r>
              <a:rPr lang="zh-CN" altLang="en-US" sz="1800" dirty="0"/>
              <a:t>）及全科医生（</a:t>
            </a:r>
            <a:r>
              <a:rPr lang="en-US" altLang="zh-CN" sz="1800" dirty="0"/>
              <a:t>general practitioner</a:t>
            </a:r>
            <a:r>
              <a:rPr lang="zh-CN" altLang="en-US" sz="1800" dirty="0"/>
              <a:t>）。 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2</a:t>
            </a:r>
            <a:r>
              <a:rPr lang="zh-CN" altLang="en-US" sz="1800" dirty="0"/>
              <a:t>）</a:t>
            </a:r>
            <a:r>
              <a:rPr lang="en-US" altLang="zh-CN" sz="1800" dirty="0"/>
              <a:t>Doctor</a:t>
            </a:r>
            <a:r>
              <a:rPr lang="zh-CN" altLang="en-US" sz="1800" dirty="0"/>
              <a:t>记录还含有诊费（</a:t>
            </a:r>
            <a:r>
              <a:rPr lang="en-US" altLang="zh-CN" sz="1800" dirty="0" err="1"/>
              <a:t>office_vist_fee</a:t>
            </a:r>
            <a:r>
              <a:rPr lang="zh-CN" altLang="en-US" sz="1800" dirty="0"/>
              <a:t>）。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3</a:t>
            </a:r>
            <a:r>
              <a:rPr lang="zh-CN" altLang="en-US" sz="1800" dirty="0"/>
              <a:t>）在一条患者记录中，包括该患者产生的药费</a:t>
            </a:r>
            <a:r>
              <a:rPr lang="en-US" altLang="zh-CN" sz="1800" dirty="0"/>
              <a:t>(</a:t>
            </a:r>
            <a:r>
              <a:rPr lang="en-US" altLang="zh-CN" sz="1800" dirty="0" err="1"/>
              <a:t>drug_fee</a:t>
            </a:r>
            <a:r>
              <a:rPr lang="en-US" altLang="zh-CN" sz="1800" dirty="0"/>
              <a:t>) </a:t>
            </a:r>
            <a:r>
              <a:rPr lang="zh-CN" altLang="en-US" sz="1800" dirty="0"/>
              <a:t>，患者的诊费（即医生的诊费）。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4</a:t>
            </a:r>
            <a:r>
              <a:rPr lang="zh-CN" altLang="en-US" sz="1800" dirty="0"/>
              <a:t>）在一条账单记录中，包括一条患者对象、该患者对应得主治医生、该患者产生的诊费和药费。 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5</a:t>
            </a:r>
            <a:r>
              <a:rPr lang="zh-CN" altLang="en-US" sz="1800" dirty="0"/>
              <a:t>）应用程序能够显示出诊所中每个患者的信息和对应主治医生的信息。  </a:t>
            </a:r>
          </a:p>
          <a:p>
            <a:pPr marL="0" indent="0" algn="l"/>
            <a:r>
              <a:rPr lang="zh-CN" altLang="en-US" sz="1800" dirty="0"/>
              <a:t>（</a:t>
            </a:r>
            <a:r>
              <a:rPr lang="en-US" altLang="zh-CN" sz="1800" dirty="0"/>
              <a:t>6</a:t>
            </a:r>
            <a:r>
              <a:rPr lang="zh-CN" altLang="en-US" sz="1800" dirty="0"/>
              <a:t>）能够统计出所有患者的总费用。 </a:t>
            </a:r>
          </a:p>
          <a:p>
            <a:pPr algn="l"/>
            <a:r>
              <a:rPr lang="zh-CN" altLang="zh-CN" sz="1800" dirty="0">
                <a:solidFill>
                  <a:srgbClr val="FFFF00"/>
                </a:solidFill>
              </a:rPr>
              <a:t>【基本要求】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设计所需的数据结构、程序功能模块等，可以根据需要扩展所需功能</a:t>
            </a:r>
            <a:r>
              <a:rPr lang="zh-CN" altLang="en-US" sz="1800" dirty="0"/>
              <a:t>。</a:t>
            </a:r>
            <a:endParaRPr lang="zh-CN" altLang="zh-CN" sz="18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程序运行过程中，有方便合理的用户操作界面，能直观展示输入数据、处理过程及输出结果</a:t>
            </a:r>
            <a:r>
              <a:rPr lang="zh-CN" altLang="en-US" sz="1800" dirty="0"/>
              <a:t>。</a:t>
            </a:r>
            <a:endParaRPr lang="zh-CN" altLang="zh-CN" sz="1800" dirty="0"/>
          </a:p>
          <a:p>
            <a:pPr marL="457200" lvl="0" indent="-457200" algn="l">
              <a:buFont typeface="+mj-lt"/>
              <a:buAutoNum type="arabicPeriod"/>
            </a:pPr>
            <a:r>
              <a:rPr lang="zh-CN" altLang="zh-CN" sz="1800" dirty="0"/>
              <a:t>所需数据可以存储在数据库或数据文件中，数据结构、具体数据项自定</a:t>
            </a:r>
            <a:r>
              <a:rPr lang="zh-CN" altLang="en-US" sz="1800" dirty="0"/>
              <a:t>。</a:t>
            </a:r>
            <a:endParaRPr lang="zh-CN" altLang="zh-CN" sz="1800" dirty="0"/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915193" y="252210"/>
            <a:ext cx="812130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大作业参考选题之</a:t>
            </a:r>
            <a:r>
              <a:rPr lang="en-US" altLang="zh-CN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25</a:t>
            </a:r>
            <a:r>
              <a:rPr lang="zh-CN" alt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：诊所信息管理系统</a:t>
            </a:r>
          </a:p>
        </p:txBody>
      </p:sp>
    </p:spTree>
    <p:extLst>
      <p:ext uri="{BB962C8B-B14F-4D97-AF65-F5344CB8AC3E}">
        <p14:creationId xmlns:p14="http://schemas.microsoft.com/office/powerpoint/2010/main" val="175902126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WordArt 2"/>
          <p:cNvSpPr>
            <a:spLocks noChangeArrowheads="1" noChangeShapeType="1" noTextEdit="1"/>
          </p:cNvSpPr>
          <p:nvPr/>
        </p:nvSpPr>
        <p:spPr bwMode="auto">
          <a:xfrm>
            <a:off x="4644008" y="5181600"/>
            <a:ext cx="3966592" cy="838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华文彩云" panose="02010800040101010101" pitchFamily="2" charset="-122"/>
                <a:ea typeface="华文彩云" panose="02010800040101010101" pitchFamily="2" charset="-122"/>
              </a:rPr>
              <a:t>有问题吗？</a:t>
            </a:r>
          </a:p>
        </p:txBody>
      </p:sp>
      <p:pic>
        <p:nvPicPr>
          <p:cNvPr id="63590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70000"/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48000"/>
            <a:ext cx="1828800" cy="1143000"/>
          </a:xfrm>
          <a:prstGeom prst="rect">
            <a:avLst/>
          </a:prstGeom>
          <a:noFill/>
          <a:effectLst>
            <a:prstShdw prst="shdw17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5908" name="Text Box 4"/>
          <p:cNvSpPr txBox="1">
            <a:spLocks noChangeArrowheads="1"/>
          </p:cNvSpPr>
          <p:nvPr/>
        </p:nvSpPr>
        <p:spPr bwMode="auto">
          <a:xfrm>
            <a:off x="539552" y="1196752"/>
            <a:ext cx="8153400" cy="1142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lnSpc>
                <a:spcPct val="75000"/>
              </a:lnSpc>
              <a:spcBef>
                <a:spcPct val="50000"/>
              </a:spcBef>
            </a:pPr>
            <a:r>
              <a:rPr lang="zh-CN" altLang="en-US" sz="8800" dirty="0">
                <a:latin typeface="华文彩云" panose="02010800040101010101" pitchFamily="2" charset="-122"/>
                <a:ea typeface="华文彩云" panose="02010800040101010101" pitchFamily="2" charset="-122"/>
              </a:rPr>
              <a:t>本讲结束</a:t>
            </a:r>
            <a:endParaRPr lang="zh-CN" altLang="en-US" sz="8800" dirty="0"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93212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0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62f1b6f-89ac-44a1-9db3-736a0d840c7a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7aba67-bad9-4579-b144-1349ecbe88c2}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2A004E"/>
      </a:dk1>
      <a:lt1>
        <a:srgbClr val="FFFFFF"/>
      </a:lt1>
      <a:dk2>
        <a:srgbClr val="500093"/>
      </a:dk2>
      <a:lt2>
        <a:srgbClr val="00CCCC"/>
      </a:lt2>
      <a:accent1>
        <a:srgbClr val="D60093"/>
      </a:accent1>
      <a:accent2>
        <a:srgbClr val="0000FF"/>
      </a:accent2>
      <a:accent3>
        <a:srgbClr val="B3AAC8"/>
      </a:accent3>
      <a:accent4>
        <a:srgbClr val="DADADA"/>
      </a:accent4>
      <a:accent5>
        <a:srgbClr val="E8AAC8"/>
      </a:accent5>
      <a:accent6>
        <a:srgbClr val="0000E7"/>
      </a:accent6>
      <a:hlink>
        <a:srgbClr val="FFFF00"/>
      </a:hlink>
      <a:folHlink>
        <a:srgbClr val="7500D7"/>
      </a:folHlink>
    </a:clrScheme>
    <a:fontScheme name="Blank Presentation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36000" tIns="0" rIns="36000" bIns="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36000" tIns="0" rIns="36000" bIns="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幼圆" panose="02010509060101010101" pitchFamily="49" charset="-122"/>
          </a:defRPr>
        </a:defPPr>
      </a:lstStyle>
    </a:lnDef>
    <a:txDef>
      <a:spPr bwMode="auto">
        <a:noFill/>
        <a:ln w="9525" algn="ctr">
          <a:noFill/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 anchor="ctr"/>
      <a:lstStyle>
        <a:defPPr algn="l" eaLnBrk="1" hangingPunct="1">
          <a:lnSpc>
            <a:spcPct val="150000"/>
          </a:lnSpc>
          <a:spcBef>
            <a:spcPct val="50000"/>
          </a:spcBef>
          <a:defRPr sz="2400" dirty="0" smtClean="0"/>
        </a:defPPr>
      </a:lstStyle>
    </a:txDef>
  </a:objectDefaults>
  <a:extraClrSchemeLst>
    <a:extraClrScheme>
      <a:clrScheme name="Blank Presentation 1">
        <a:dk1>
          <a:srgbClr val="2A004E"/>
        </a:dk1>
        <a:lt1>
          <a:srgbClr val="FFFFFF"/>
        </a:lt1>
        <a:dk2>
          <a:srgbClr val="500093"/>
        </a:dk2>
        <a:lt2>
          <a:srgbClr val="00CCCC"/>
        </a:lt2>
        <a:accent1>
          <a:srgbClr val="D60093"/>
        </a:accent1>
        <a:accent2>
          <a:srgbClr val="0000FF"/>
        </a:accent2>
        <a:accent3>
          <a:srgbClr val="B3AAC8"/>
        </a:accent3>
        <a:accent4>
          <a:srgbClr val="DADADA"/>
        </a:accent4>
        <a:accent5>
          <a:srgbClr val="E8AAC8"/>
        </a:accent5>
        <a:accent6>
          <a:srgbClr val="0000E7"/>
        </a:accent6>
        <a:hlink>
          <a:srgbClr val="FFFF00"/>
        </a:hlink>
        <a:folHlink>
          <a:srgbClr val="7500D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CC99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2D5CE7"/>
        </a:accent6>
        <a:hlink>
          <a:srgbClr val="00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777777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B8B8B8"/>
        </a:accent6>
        <a:hlink>
          <a:srgbClr val="4D4D4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00CCCC"/>
        </a:lt1>
        <a:dk2>
          <a:srgbClr val="FFFFCC"/>
        </a:dk2>
        <a:lt2>
          <a:srgbClr val="009999"/>
        </a:lt2>
        <a:accent1>
          <a:srgbClr val="CC99FF"/>
        </a:accent1>
        <a:accent2>
          <a:srgbClr val="3366FF"/>
        </a:accent2>
        <a:accent3>
          <a:srgbClr val="AAE2E2"/>
        </a:accent3>
        <a:accent4>
          <a:srgbClr val="000000"/>
        </a:accent4>
        <a:accent5>
          <a:srgbClr val="E2CAFF"/>
        </a:accent5>
        <a:accent6>
          <a:srgbClr val="2D5CE7"/>
        </a:accent6>
        <a:hlink>
          <a:srgbClr val="00CCFF"/>
        </a:hlink>
        <a:folHlink>
          <a:srgbClr val="00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3300"/>
        </a:dk1>
        <a:lt1>
          <a:srgbClr val="FFFFFF"/>
        </a:lt1>
        <a:dk2>
          <a:srgbClr val="669900"/>
        </a:dk2>
        <a:lt2>
          <a:srgbClr val="FFCC66"/>
        </a:lt2>
        <a:accent1>
          <a:srgbClr val="990033"/>
        </a:accent1>
        <a:accent2>
          <a:srgbClr val="FF9933"/>
        </a:accent2>
        <a:accent3>
          <a:srgbClr val="B8CAAA"/>
        </a:accent3>
        <a:accent4>
          <a:srgbClr val="DADADA"/>
        </a:accent4>
        <a:accent5>
          <a:srgbClr val="CAAAAD"/>
        </a:accent5>
        <a:accent6>
          <a:srgbClr val="E78A2D"/>
        </a:accent6>
        <a:hlink>
          <a:srgbClr val="CCCC00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663300"/>
        </a:dk1>
        <a:lt1>
          <a:srgbClr val="FFFFFF"/>
        </a:lt1>
        <a:dk2>
          <a:srgbClr val="CC6600"/>
        </a:dk2>
        <a:lt2>
          <a:srgbClr val="FFCC00"/>
        </a:lt2>
        <a:accent1>
          <a:srgbClr val="990033"/>
        </a:accent1>
        <a:accent2>
          <a:srgbClr val="FF0033"/>
        </a:accent2>
        <a:accent3>
          <a:srgbClr val="E2B8AA"/>
        </a:accent3>
        <a:accent4>
          <a:srgbClr val="DADADA"/>
        </a:accent4>
        <a:accent5>
          <a:srgbClr val="CAAAAD"/>
        </a:accent5>
        <a:accent6>
          <a:srgbClr val="E7002D"/>
        </a:accent6>
        <a:hlink>
          <a:srgbClr val="CC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660033"/>
        </a:dk1>
        <a:lt1>
          <a:srgbClr val="FFFFFF"/>
        </a:lt1>
        <a:dk2>
          <a:srgbClr val="990066"/>
        </a:dk2>
        <a:lt2>
          <a:srgbClr val="FFFF66"/>
        </a:lt2>
        <a:accent1>
          <a:srgbClr val="9933FF"/>
        </a:accent1>
        <a:accent2>
          <a:srgbClr val="00CCCC"/>
        </a:accent2>
        <a:accent3>
          <a:srgbClr val="CAAAB8"/>
        </a:accent3>
        <a:accent4>
          <a:srgbClr val="DADADA"/>
        </a:accent4>
        <a:accent5>
          <a:srgbClr val="CAADFF"/>
        </a:accent5>
        <a:accent6>
          <a:srgbClr val="00B9B9"/>
        </a:accent6>
        <a:hlink>
          <a:srgbClr val="CC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66626</TotalTime>
  <Pages>3</Pages>
  <Words>6149</Words>
  <Application>Microsoft Office PowerPoint</Application>
  <PresentationFormat>全屏显示(4:3)</PresentationFormat>
  <Paragraphs>416</Paragraphs>
  <Slides>33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Monotype Sorts</vt:lpstr>
      <vt:lpstr>黑体</vt:lpstr>
      <vt:lpstr>华文彩云</vt:lpstr>
      <vt:lpstr>华文行楷</vt:lpstr>
      <vt:lpstr>隶书</vt:lpstr>
      <vt:lpstr>宋体</vt:lpstr>
      <vt:lpstr>微软雅黑</vt:lpstr>
      <vt:lpstr>Arial</vt:lpstr>
      <vt:lpstr>Book Antiqua</vt:lpstr>
      <vt:lpstr>Times New Roman</vt:lpstr>
      <vt:lpstr>Blank Presentation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谭成予</dc:creator>
  <cp:lastModifiedBy>祝 园园</cp:lastModifiedBy>
  <cp:revision>1948</cp:revision>
  <cp:lastPrinted>1996-09-12T11:44:34Z</cp:lastPrinted>
  <dcterms:created xsi:type="dcterms:W3CDTF">1999-08-09T22:53:42Z</dcterms:created>
  <dcterms:modified xsi:type="dcterms:W3CDTF">2024-11-02T05:07:16Z</dcterms:modified>
</cp:coreProperties>
</file>